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1"/>
  </p:sldMasterIdLst>
  <p:sldIdLst>
    <p:sldId id="256" r:id="rId2"/>
    <p:sldId id="257" r:id="rId3"/>
    <p:sldId id="258" r:id="rId4"/>
    <p:sldId id="259" r:id="rId5"/>
    <p:sldId id="260" r:id="rId6"/>
    <p:sldId id="261" r:id="rId7"/>
    <p:sldId id="262" r:id="rId8"/>
    <p:sldId id="263" r:id="rId9"/>
    <p:sldId id="264" r:id="rId10"/>
    <p:sldId id="270" r:id="rId11"/>
    <p:sldId id="269" r:id="rId12"/>
    <p:sldId id="265" r:id="rId13"/>
    <p:sldId id="266"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8"/>
  </p:normalViewPr>
  <p:slideViewPr>
    <p:cSldViewPr snapToGrid="0">
      <p:cViewPr varScale="1">
        <p:scale>
          <a:sx n="95" d="100"/>
          <a:sy n="95" d="100"/>
        </p:scale>
        <p:origin x="200"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7408E77-4DC0-7542-9F9D-21C1361EA256}" type="datetimeFigureOut">
              <a:rPr lang="en-US" smtClean="0"/>
              <a:t>2/16/26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2940977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408E77-4DC0-7542-9F9D-21C1361EA256}"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271802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408E77-4DC0-7542-9F9D-21C1361EA256}"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4182487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408E77-4DC0-7542-9F9D-21C1361EA256}"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455333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408E77-4DC0-7542-9F9D-21C1361EA256}" type="datetimeFigureOut">
              <a:rPr lang="en-US" smtClean="0"/>
              <a:t>2/16/26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1070693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408E77-4DC0-7542-9F9D-21C1361EA256}" type="datetimeFigureOut">
              <a:rPr lang="en-US" smtClean="0"/>
              <a:t>2/16/26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3913811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08E77-4DC0-7542-9F9D-21C1361EA256}" type="datetimeFigureOut">
              <a:rPr lang="en-US" smtClean="0"/>
              <a:t>2/16/26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326417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408E77-4DC0-7542-9F9D-21C1361EA256}"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3757687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408E77-4DC0-7542-9F9D-21C1361EA256}"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1255959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408E77-4DC0-7542-9F9D-21C1361EA256}"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3624719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408E77-4DC0-7542-9F9D-21C1361EA256}"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2121390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408E77-4DC0-7542-9F9D-21C1361EA256}"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0C435-81F7-5845-BD9B-2F6784901B30}"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37201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408E77-4DC0-7542-9F9D-21C1361EA256}"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335140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7408E77-4DC0-7542-9F9D-21C1361EA256}" type="datetimeFigureOut">
              <a:rPr lang="en-US" smtClean="0"/>
              <a:t>2/16/26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3721212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7408E77-4DC0-7542-9F9D-21C1361EA256}" type="datetimeFigureOut">
              <a:rPr lang="en-US" smtClean="0"/>
              <a:t>2/16/26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3343402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408E77-4DC0-7542-9F9D-21C1361EA256}"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12403936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408E77-4DC0-7542-9F9D-21C1361EA256}"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0C435-81F7-5845-BD9B-2F6784901B30}" type="slidenum">
              <a:rPr lang="en-US" smtClean="0"/>
              <a:t>‹#›</a:t>
            </a:fld>
            <a:endParaRPr lang="en-US"/>
          </a:p>
        </p:txBody>
      </p:sp>
    </p:spTree>
    <p:extLst>
      <p:ext uri="{BB962C8B-B14F-4D97-AF65-F5344CB8AC3E}">
        <p14:creationId xmlns:p14="http://schemas.microsoft.com/office/powerpoint/2010/main" val="4142628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7408E77-4DC0-7542-9F9D-21C1361EA256}" type="datetimeFigureOut">
              <a:rPr lang="en-US" smtClean="0"/>
              <a:t>2/16/26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440C435-81F7-5845-BD9B-2F6784901B30}" type="slidenum">
              <a:rPr lang="en-US" smtClean="0"/>
              <a:t>‹#›</a:t>
            </a:fld>
            <a:endParaRPr lang="en-US"/>
          </a:p>
        </p:txBody>
      </p:sp>
    </p:spTree>
    <p:extLst>
      <p:ext uri="{BB962C8B-B14F-4D97-AF65-F5344CB8AC3E}">
        <p14:creationId xmlns:p14="http://schemas.microsoft.com/office/powerpoint/2010/main" val="1630546697"/>
      </p:ext>
    </p:extLst>
  </p:cSld>
  <p:clrMap bg1="dk1" tx1="lt1" bg2="dk2" tx2="lt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ABE96-63EF-55EF-3FAD-314C69411A67}"/>
              </a:ext>
            </a:extLst>
          </p:cNvPr>
          <p:cNvSpPr>
            <a:spLocks noGrp="1"/>
          </p:cNvSpPr>
          <p:nvPr>
            <p:ph type="ctrTitle"/>
          </p:nvPr>
        </p:nvSpPr>
        <p:spPr/>
        <p:txBody>
          <a:bodyPr>
            <a:normAutofit/>
          </a:bodyPr>
          <a:lstStyle/>
          <a:p>
            <a:r>
              <a:rPr lang="en-US" dirty="0"/>
              <a:t>EV Charging Station Analysis </a:t>
            </a:r>
            <a:br>
              <a:rPr lang="en-US" dirty="0"/>
            </a:br>
            <a:endParaRPr lang="en-US" dirty="0"/>
          </a:p>
        </p:txBody>
      </p:sp>
      <p:sp>
        <p:nvSpPr>
          <p:cNvPr id="3" name="Subtitle 2">
            <a:extLst>
              <a:ext uri="{FF2B5EF4-FFF2-40B4-BE49-F238E27FC236}">
                <a16:creationId xmlns:a16="http://schemas.microsoft.com/office/drawing/2014/main" id="{146DAEFC-6A97-5B1D-AA65-5CFB4EC5FB6F}"/>
              </a:ext>
            </a:extLst>
          </p:cNvPr>
          <p:cNvSpPr>
            <a:spLocks noGrp="1"/>
          </p:cNvSpPr>
          <p:nvPr>
            <p:ph type="subTitle" idx="1"/>
          </p:nvPr>
        </p:nvSpPr>
        <p:spPr/>
        <p:txBody>
          <a:bodyPr>
            <a:normAutofit/>
          </a:bodyPr>
          <a:lstStyle/>
          <a:p>
            <a:r>
              <a:rPr lang="en-US" dirty="0"/>
              <a:t>Hector Pena</a:t>
            </a:r>
          </a:p>
          <a:p>
            <a:r>
              <a:rPr lang="en-US" dirty="0"/>
              <a:t>DSC 680</a:t>
            </a:r>
          </a:p>
          <a:p>
            <a:r>
              <a:rPr lang="en-US" dirty="0"/>
              <a:t>Bellevue University</a:t>
            </a:r>
          </a:p>
        </p:txBody>
      </p:sp>
    </p:spTree>
    <p:extLst>
      <p:ext uri="{BB962C8B-B14F-4D97-AF65-F5344CB8AC3E}">
        <p14:creationId xmlns:p14="http://schemas.microsoft.com/office/powerpoint/2010/main" val="4130923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AA715-4395-E77A-E80E-92DEA2DC4657}"/>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47A5522E-2873-CAED-48A1-F418058CFCDC}"/>
              </a:ext>
            </a:extLst>
          </p:cNvPr>
          <p:cNvSpPr>
            <a:spLocks noGrp="1"/>
          </p:cNvSpPr>
          <p:nvPr>
            <p:ph idx="1"/>
          </p:nvPr>
        </p:nvSpPr>
        <p:spPr/>
        <p:txBody>
          <a:bodyPr>
            <a:normAutofit fontScale="92500" lnSpcReduction="10000"/>
          </a:bodyPr>
          <a:lstStyle/>
          <a:p>
            <a:r>
              <a:rPr lang="en-US" dirty="0"/>
              <a:t>With the growing popularity of Electric Vehicle (EV) we need more EV charging stations to be built across the United States this project will take a deep dive into EV Charging stations. For the consumers they want to see a breakdown of the EV charging stations so they can make an informed decision as to if having an Electric Vehicle is a smart choice for them. An analysis that emphasizes the reliability of these charging stations and the networks which own said charging stations, will try to answer the questions of how reliable the charging stations are. With the vast majority or charging stations being outside there is a possibility that external factors may affect the reliability. </a:t>
            </a:r>
          </a:p>
          <a:p>
            <a:endParaRPr lang="en-US" dirty="0"/>
          </a:p>
        </p:txBody>
      </p:sp>
    </p:spTree>
    <p:extLst>
      <p:ext uri="{BB962C8B-B14F-4D97-AF65-F5344CB8AC3E}">
        <p14:creationId xmlns:p14="http://schemas.microsoft.com/office/powerpoint/2010/main" val="896677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F63E-EC59-4BAC-581D-5DEC0A245E11}"/>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22E67D8F-8CAC-A03B-95EF-9858FC7CD5A5}"/>
              </a:ext>
            </a:extLst>
          </p:cNvPr>
          <p:cNvSpPr>
            <a:spLocks noGrp="1"/>
          </p:cNvSpPr>
          <p:nvPr>
            <p:ph idx="1"/>
          </p:nvPr>
        </p:nvSpPr>
        <p:spPr/>
        <p:txBody>
          <a:bodyPr>
            <a:normAutofit fontScale="85000" lnSpcReduction="20000"/>
          </a:bodyPr>
          <a:lstStyle/>
          <a:p>
            <a:r>
              <a:rPr lang="en-US" dirty="0"/>
              <a:t>When looking back at the late 1800’s we can see the introduction of electric vehicles, which brings the experimentation of vehicle charging. In the early forms of experimentation EV had removable batteries that had to be changed manually or at battery stations. Moving to the 19</a:t>
            </a:r>
            <a:r>
              <a:rPr lang="en-US" baseline="30000" dirty="0"/>
              <a:t>th</a:t>
            </a:r>
            <a:r>
              <a:rPr lang="en-US" dirty="0"/>
              <a:t> and early 20</a:t>
            </a:r>
            <a:r>
              <a:rPr lang="en-US" baseline="30000" dirty="0"/>
              <a:t>th </a:t>
            </a:r>
            <a:r>
              <a:rPr lang="en-US" dirty="0"/>
              <a:t>century the sales of EV increased in popularity owners have started installing EV chargers at their homes, public charging stations have become more accessible.</a:t>
            </a:r>
          </a:p>
          <a:p>
            <a:r>
              <a:rPr lang="en-US" dirty="0"/>
              <a:t> Late 20</a:t>
            </a:r>
            <a:r>
              <a:rPr lang="en-US" baseline="30000" dirty="0"/>
              <a:t>th</a:t>
            </a:r>
            <a:r>
              <a:rPr lang="en-US" dirty="0"/>
              <a:t> century shows us automakers experimenting with EVs especially in the state of California. The 2000’s showed the first charger capable of fully charging EVs in several hours.</a:t>
            </a:r>
          </a:p>
          <a:p>
            <a:r>
              <a:rPr lang="en-US" dirty="0"/>
              <a:t>With the expansion of vehicle manufactures launching more EV; such as Nissan Leaf. Tesla Model S, etc. The charging infrastructure expanded rapidly causing companies and government to invest in networks of chargers across cities.</a:t>
            </a:r>
          </a:p>
          <a:p>
            <a:endParaRPr lang="en-US" dirty="0"/>
          </a:p>
        </p:txBody>
      </p:sp>
    </p:spTree>
    <p:extLst>
      <p:ext uri="{BB962C8B-B14F-4D97-AF65-F5344CB8AC3E}">
        <p14:creationId xmlns:p14="http://schemas.microsoft.com/office/powerpoint/2010/main" val="3570325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48C12-7A33-3A74-B787-6F2BB8D4EAD9}"/>
              </a:ext>
            </a:extLst>
          </p:cNvPr>
          <p:cNvSpPr>
            <a:spLocks noGrp="1"/>
          </p:cNvSpPr>
          <p:nvPr>
            <p:ph type="title"/>
          </p:nvPr>
        </p:nvSpPr>
        <p:spPr/>
        <p:txBody>
          <a:bodyPr/>
          <a:lstStyle/>
          <a:p>
            <a:r>
              <a:rPr lang="en-US" dirty="0"/>
              <a:t>Data Explanation</a:t>
            </a:r>
          </a:p>
        </p:txBody>
      </p:sp>
      <p:sp>
        <p:nvSpPr>
          <p:cNvPr id="3" name="Content Placeholder 2">
            <a:extLst>
              <a:ext uri="{FF2B5EF4-FFF2-40B4-BE49-F238E27FC236}">
                <a16:creationId xmlns:a16="http://schemas.microsoft.com/office/drawing/2014/main" id="{009B547B-B29B-3025-8F02-62A4BB626CFB}"/>
              </a:ext>
            </a:extLst>
          </p:cNvPr>
          <p:cNvSpPr>
            <a:spLocks noGrp="1"/>
          </p:cNvSpPr>
          <p:nvPr>
            <p:ph idx="1"/>
          </p:nvPr>
        </p:nvSpPr>
        <p:spPr/>
        <p:txBody>
          <a:bodyPr>
            <a:normAutofit fontScale="92500"/>
          </a:bodyPr>
          <a:lstStyle/>
          <a:p>
            <a:r>
              <a:rPr lang="en-US" dirty="0"/>
              <a:t>The data we will be using for this project has been collected from Kaggle, this dataset provides 33 different metrics that range in category. This dataset will help us see metrics such as time, location, average charge time, type of chargers, number of ports, etc. which we can use to show EV owners any trends or useful information to make educated decisions on their EV charging needs. To get the most of our data we must perform basic EDA to remove any irregularities in our data as well as fill any null values that may be in place. We will also filter our data to segment it by columns so we can get a closer look at certain metrics.</a:t>
            </a:r>
          </a:p>
          <a:p>
            <a:endParaRPr lang="en-US" dirty="0"/>
          </a:p>
        </p:txBody>
      </p:sp>
    </p:spTree>
    <p:extLst>
      <p:ext uri="{BB962C8B-B14F-4D97-AF65-F5344CB8AC3E}">
        <p14:creationId xmlns:p14="http://schemas.microsoft.com/office/powerpoint/2010/main" val="4247355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FB58A-342C-8DA3-A93B-3C306F813622}"/>
              </a:ext>
            </a:extLst>
          </p:cNvPr>
          <p:cNvSpPr>
            <a:spLocks noGrp="1"/>
          </p:cNvSpPr>
          <p:nvPr>
            <p:ph type="title"/>
          </p:nvPr>
        </p:nvSpPr>
        <p:spPr/>
        <p:txBody>
          <a:bodyPr/>
          <a:lstStyle/>
          <a:p>
            <a:r>
              <a:rPr lang="en-US" dirty="0"/>
              <a:t>Methods of Analysis</a:t>
            </a:r>
          </a:p>
        </p:txBody>
      </p:sp>
      <p:sp>
        <p:nvSpPr>
          <p:cNvPr id="3" name="Content Placeholder 2">
            <a:extLst>
              <a:ext uri="{FF2B5EF4-FFF2-40B4-BE49-F238E27FC236}">
                <a16:creationId xmlns:a16="http://schemas.microsoft.com/office/drawing/2014/main" id="{2041BDB4-C74D-747B-E381-B353ACB0FF8B}"/>
              </a:ext>
            </a:extLst>
          </p:cNvPr>
          <p:cNvSpPr>
            <a:spLocks noGrp="1"/>
          </p:cNvSpPr>
          <p:nvPr>
            <p:ph idx="1"/>
          </p:nvPr>
        </p:nvSpPr>
        <p:spPr/>
        <p:txBody>
          <a:bodyPr>
            <a:normAutofit fontScale="70000" lnSpcReduction="20000"/>
          </a:bodyPr>
          <a:lstStyle/>
          <a:p>
            <a:r>
              <a:rPr lang="en-US" dirty="0"/>
              <a:t>With this dataset we have a wide range of potential of many types of analysis, with the metrics listed in this dataset we can run a Time Series Forecasting. This will predict EV station availability and peak demand hours. With using classification, we can determine if a charger will be available at a given time. With running a regression model, we can try to predict utilization rates and wait times for EV stations. A clustering model can be used to segment stations by usage patterns and location type.  By running anomaly detection, we can try to identify maintenance issues or unusual demand spikes that affect EV stations. With a correlation analysis, we can explore relationships between weather, gas prices, traffic, and EV charging demand. With the use of dynamic pricing optimization, we can model pricing strategies based on demand patterns. With the use of visualizations, we can create a compelling EV infrastructure dashboards and maps to show consumers different metrics. With all these methods we can help to identify underserved areas and optimize locations for new EV charging stations.</a:t>
            </a:r>
          </a:p>
        </p:txBody>
      </p:sp>
    </p:spTree>
    <p:extLst>
      <p:ext uri="{BB962C8B-B14F-4D97-AF65-F5344CB8AC3E}">
        <p14:creationId xmlns:p14="http://schemas.microsoft.com/office/powerpoint/2010/main" val="498417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98834-84BE-A67B-7EAE-C5CCE75444A1}"/>
              </a:ext>
            </a:extLst>
          </p:cNvPr>
          <p:cNvSpPr>
            <a:spLocks noGrp="1"/>
          </p:cNvSpPr>
          <p:nvPr>
            <p:ph type="title"/>
          </p:nvPr>
        </p:nvSpPr>
        <p:spPr/>
        <p:txBody>
          <a:bodyPr/>
          <a:lstStyle/>
          <a:p>
            <a:r>
              <a:rPr lang="en-US" dirty="0"/>
              <a:t>Charger Type Distribution</a:t>
            </a:r>
          </a:p>
        </p:txBody>
      </p:sp>
      <p:pic>
        <p:nvPicPr>
          <p:cNvPr id="5" name="Content Placeholder 4" descr="A diagram of charger types&#10;&#10;AI-generated content may be incorrect.">
            <a:extLst>
              <a:ext uri="{FF2B5EF4-FFF2-40B4-BE49-F238E27FC236}">
                <a16:creationId xmlns:a16="http://schemas.microsoft.com/office/drawing/2014/main" id="{EE72C6C9-2CC8-921D-0547-13CD2053E99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347339" y="1250577"/>
            <a:ext cx="4980601" cy="3937234"/>
          </a:xfrm>
          <a:prstGeom prst="rect">
            <a:avLst/>
          </a:prstGeom>
        </p:spPr>
      </p:pic>
      <p:sp>
        <p:nvSpPr>
          <p:cNvPr id="4" name="Text Placeholder 3">
            <a:extLst>
              <a:ext uri="{FF2B5EF4-FFF2-40B4-BE49-F238E27FC236}">
                <a16:creationId xmlns:a16="http://schemas.microsoft.com/office/drawing/2014/main" id="{8BA98632-6331-5907-3D47-17E9614EE365}"/>
              </a:ext>
            </a:extLst>
          </p:cNvPr>
          <p:cNvSpPr>
            <a:spLocks noGrp="1"/>
          </p:cNvSpPr>
          <p:nvPr>
            <p:ph type="body" sz="half" idx="2"/>
          </p:nvPr>
        </p:nvSpPr>
        <p:spPr/>
        <p:txBody>
          <a:bodyPr>
            <a:normAutofit/>
          </a:bodyPr>
          <a:lstStyle/>
          <a:p>
            <a:r>
              <a:rPr lang="en-US" dirty="0"/>
              <a:t>After using the methods from above we can see the distribution of charger types showing that over 40 percent of our chargers are DC fast chargers while Tesla DC-Fast only take up around 14 percent of charger types. Below we can see the breakdown of our charger types.</a:t>
            </a:r>
          </a:p>
          <a:p>
            <a:endParaRPr lang="en-US" dirty="0"/>
          </a:p>
        </p:txBody>
      </p:sp>
    </p:spTree>
    <p:extLst>
      <p:ext uri="{BB962C8B-B14F-4D97-AF65-F5344CB8AC3E}">
        <p14:creationId xmlns:p14="http://schemas.microsoft.com/office/powerpoint/2010/main" val="680231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085AB-29D2-FB3B-20E6-D39ADBA0108E}"/>
              </a:ext>
            </a:extLst>
          </p:cNvPr>
          <p:cNvSpPr>
            <a:spLocks noGrp="1"/>
          </p:cNvSpPr>
          <p:nvPr>
            <p:ph type="title"/>
          </p:nvPr>
        </p:nvSpPr>
        <p:spPr/>
        <p:txBody>
          <a:bodyPr/>
          <a:lstStyle/>
          <a:p>
            <a:r>
              <a:rPr lang="en-US" dirty="0"/>
              <a:t>Charger type Distribution</a:t>
            </a:r>
          </a:p>
        </p:txBody>
      </p:sp>
      <p:sp>
        <p:nvSpPr>
          <p:cNvPr id="4" name="Text Placeholder 3">
            <a:extLst>
              <a:ext uri="{FF2B5EF4-FFF2-40B4-BE49-F238E27FC236}">
                <a16:creationId xmlns:a16="http://schemas.microsoft.com/office/drawing/2014/main" id="{35EFDD6F-110A-43B5-C6A1-8A2081749C53}"/>
              </a:ext>
            </a:extLst>
          </p:cNvPr>
          <p:cNvSpPr>
            <a:spLocks noGrp="1"/>
          </p:cNvSpPr>
          <p:nvPr>
            <p:ph type="body" sz="half" idx="2"/>
          </p:nvPr>
        </p:nvSpPr>
        <p:spPr>
          <a:xfrm>
            <a:off x="1141410" y="2249486"/>
            <a:ext cx="3591955" cy="4487490"/>
          </a:xfrm>
        </p:spPr>
        <p:txBody>
          <a:bodyPr/>
          <a:lstStyle/>
          <a:p>
            <a:r>
              <a:rPr lang="en-US" dirty="0"/>
              <a:t>Looking into the location of these chargers we can see that most chargers falling under the airport category compared to Residential chargers that take up around 70 percent of locations. We can see the breakdown below showing our Charging Station Locations.</a:t>
            </a:r>
          </a:p>
          <a:p>
            <a:endParaRPr lang="en-US" dirty="0"/>
          </a:p>
        </p:txBody>
      </p:sp>
      <p:pic>
        <p:nvPicPr>
          <p:cNvPr id="6" name="Picture 5" descr="A graph of different colored bars&#10;&#10;AI-generated content may be incorrect.">
            <a:extLst>
              <a:ext uri="{FF2B5EF4-FFF2-40B4-BE49-F238E27FC236}">
                <a16:creationId xmlns:a16="http://schemas.microsoft.com/office/drawing/2014/main" id="{BAC3419C-F0CD-849E-C84E-D8C2B53269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79476" y="2353235"/>
            <a:ext cx="5459762" cy="3452363"/>
          </a:xfrm>
          <a:prstGeom prst="rect">
            <a:avLst/>
          </a:prstGeom>
        </p:spPr>
      </p:pic>
    </p:spTree>
    <p:extLst>
      <p:ext uri="{BB962C8B-B14F-4D97-AF65-F5344CB8AC3E}">
        <p14:creationId xmlns:p14="http://schemas.microsoft.com/office/powerpoint/2010/main" val="3127539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10859-569B-CA10-2948-F821197A24C6}"/>
              </a:ext>
            </a:extLst>
          </p:cNvPr>
          <p:cNvSpPr>
            <a:spLocks noGrp="1"/>
          </p:cNvSpPr>
          <p:nvPr>
            <p:ph type="title"/>
          </p:nvPr>
        </p:nvSpPr>
        <p:spPr/>
        <p:txBody>
          <a:bodyPr/>
          <a:lstStyle/>
          <a:p>
            <a:r>
              <a:rPr lang="en-US" dirty="0"/>
              <a:t>Weather Condition Distribution</a:t>
            </a:r>
          </a:p>
        </p:txBody>
      </p:sp>
      <p:sp>
        <p:nvSpPr>
          <p:cNvPr id="4" name="Text Placeholder 3">
            <a:extLst>
              <a:ext uri="{FF2B5EF4-FFF2-40B4-BE49-F238E27FC236}">
                <a16:creationId xmlns:a16="http://schemas.microsoft.com/office/drawing/2014/main" id="{4E95CBD5-6F52-95F1-5FEF-8F58BCFC63E9}"/>
              </a:ext>
            </a:extLst>
          </p:cNvPr>
          <p:cNvSpPr>
            <a:spLocks noGrp="1"/>
          </p:cNvSpPr>
          <p:nvPr>
            <p:ph type="body" sz="half" idx="2"/>
          </p:nvPr>
        </p:nvSpPr>
        <p:spPr/>
        <p:txBody>
          <a:bodyPr/>
          <a:lstStyle/>
          <a:p>
            <a:r>
              <a:rPr lang="en-US" dirty="0"/>
              <a:t>Lastly, we can see the utilization rate of EV chargers regarding weather conditions, we can see that most of the utilizations for EV charges seem to be when weather conditions are freezing and there is a decrease in utilization when weather conditions are heavy rain. We can see the breakdown a breakdown of the Utilization by Weather Condition.</a:t>
            </a:r>
          </a:p>
          <a:p>
            <a:endParaRPr lang="en-US" dirty="0"/>
          </a:p>
        </p:txBody>
      </p:sp>
      <p:pic>
        <p:nvPicPr>
          <p:cNvPr id="5" name="Content Placeholder 4" descr="A graph of a number of different colored bars&#10;&#10;AI-generated content may be incorrect.">
            <a:extLst>
              <a:ext uri="{FF2B5EF4-FFF2-40B4-BE49-F238E27FC236}">
                <a16:creationId xmlns:a16="http://schemas.microsoft.com/office/drawing/2014/main" id="{F84D270A-0DC4-F428-8C93-0D0D0E055A1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024701" y="1498053"/>
            <a:ext cx="6020594" cy="3861894"/>
          </a:xfrm>
          <a:prstGeom prst="rect">
            <a:avLst/>
          </a:prstGeom>
        </p:spPr>
      </p:pic>
    </p:spTree>
    <p:extLst>
      <p:ext uri="{BB962C8B-B14F-4D97-AF65-F5344CB8AC3E}">
        <p14:creationId xmlns:p14="http://schemas.microsoft.com/office/powerpoint/2010/main" val="2087300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57F8A-3EF5-9D1D-E52F-6EA82C0EFF0A}"/>
              </a:ext>
            </a:extLst>
          </p:cNvPr>
          <p:cNvSpPr>
            <a:spLocks noGrp="1"/>
          </p:cNvSpPr>
          <p:nvPr>
            <p:ph type="title"/>
          </p:nvPr>
        </p:nvSpPr>
        <p:spPr/>
        <p:txBody>
          <a:bodyPr/>
          <a:lstStyle/>
          <a:p>
            <a:r>
              <a:rPr lang="en-US" dirty="0"/>
              <a:t>Correlation Analysis</a:t>
            </a:r>
          </a:p>
        </p:txBody>
      </p:sp>
      <p:sp>
        <p:nvSpPr>
          <p:cNvPr id="4" name="Text Placeholder 3">
            <a:extLst>
              <a:ext uri="{FF2B5EF4-FFF2-40B4-BE49-F238E27FC236}">
                <a16:creationId xmlns:a16="http://schemas.microsoft.com/office/drawing/2014/main" id="{238A3ADD-6931-FDE6-7263-7DBABF13E2C5}"/>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With using a correlation analysis that focuses on the utilization rate of the parameters we can see that we have a MAE close to zero which shows a good correlation analysis.</a:t>
            </a:r>
          </a:p>
          <a:p>
            <a:pPr marL="285750" indent="-285750">
              <a:buFont typeface="Arial" panose="020B0604020202020204" pitchFamily="34" charset="0"/>
              <a:buChar char="•"/>
            </a:pPr>
            <a:r>
              <a:rPr lang="en-US" dirty="0"/>
              <a:t>While our R^2 is not the strongest in the following </a:t>
            </a:r>
            <a:r>
              <a:rPr lang="en-US" dirty="0" err="1"/>
              <a:t>Correlaiton</a:t>
            </a:r>
            <a:r>
              <a:rPr lang="en-US" dirty="0"/>
              <a:t> Analysis we will add parameters to help improve our score</a:t>
            </a:r>
          </a:p>
        </p:txBody>
      </p:sp>
      <p:pic>
        <p:nvPicPr>
          <p:cNvPr id="10" name="Picture 9" descr="A close-up of a number&#10;&#10;AI-generated content may be incorrect.">
            <a:extLst>
              <a:ext uri="{FF2B5EF4-FFF2-40B4-BE49-F238E27FC236}">
                <a16:creationId xmlns:a16="http://schemas.microsoft.com/office/drawing/2014/main" id="{735E009A-B108-9294-9E80-BF48D1DDCE2C}"/>
              </a:ext>
            </a:extLst>
          </p:cNvPr>
          <p:cNvPicPr>
            <a:picLocks noChangeAspect="1"/>
          </p:cNvPicPr>
          <p:nvPr/>
        </p:nvPicPr>
        <p:blipFill>
          <a:blip r:embed="rId2"/>
          <a:stretch>
            <a:fillRect/>
          </a:stretch>
        </p:blipFill>
        <p:spPr>
          <a:xfrm>
            <a:off x="6657041" y="3567579"/>
            <a:ext cx="4902200" cy="1282700"/>
          </a:xfrm>
          <a:prstGeom prst="rect">
            <a:avLst/>
          </a:prstGeom>
        </p:spPr>
      </p:pic>
    </p:spTree>
    <p:extLst>
      <p:ext uri="{BB962C8B-B14F-4D97-AF65-F5344CB8AC3E}">
        <p14:creationId xmlns:p14="http://schemas.microsoft.com/office/powerpoint/2010/main" val="1818565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E2E8-D625-4FF0-BA52-F35A0A03B041}"/>
              </a:ext>
            </a:extLst>
          </p:cNvPr>
          <p:cNvSpPr>
            <a:spLocks noGrp="1"/>
          </p:cNvSpPr>
          <p:nvPr>
            <p:ph type="title"/>
          </p:nvPr>
        </p:nvSpPr>
        <p:spPr/>
        <p:txBody>
          <a:bodyPr/>
          <a:lstStyle/>
          <a:p>
            <a:r>
              <a:rPr lang="en-US" dirty="0"/>
              <a:t>What Drives Utilization?</a:t>
            </a:r>
          </a:p>
        </p:txBody>
      </p:sp>
      <p:sp>
        <p:nvSpPr>
          <p:cNvPr id="4" name="Text Placeholder 3">
            <a:extLst>
              <a:ext uri="{FF2B5EF4-FFF2-40B4-BE49-F238E27FC236}">
                <a16:creationId xmlns:a16="http://schemas.microsoft.com/office/drawing/2014/main" id="{CAE174B8-85AD-14D1-0380-3AC453EB569D}"/>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Utilization is primarily driven by time-of-day patterns and traffic congestion.</a:t>
            </a:r>
          </a:p>
          <a:p>
            <a:pPr marL="285750" indent="-285750">
              <a:buFont typeface="Arial" panose="020B0604020202020204" pitchFamily="34" charset="0"/>
              <a:buChar char="•"/>
            </a:pPr>
            <a:r>
              <a:rPr lang="en-US" dirty="0"/>
              <a:t>Economic conditions like gas prices also influence charging behavior. </a:t>
            </a:r>
          </a:p>
          <a:p>
            <a:pPr marL="285750" indent="-285750">
              <a:buFont typeface="Arial" panose="020B0604020202020204" pitchFamily="34" charset="0"/>
              <a:buChar char="•"/>
            </a:pPr>
            <a:r>
              <a:rPr lang="en-US" dirty="0"/>
              <a:t>Station size and session length play moderate roles, while weather and precipitation have minimal impact</a:t>
            </a:r>
          </a:p>
        </p:txBody>
      </p:sp>
      <p:graphicFrame>
        <p:nvGraphicFramePr>
          <p:cNvPr id="5" name="Table 4">
            <a:extLst>
              <a:ext uri="{FF2B5EF4-FFF2-40B4-BE49-F238E27FC236}">
                <a16:creationId xmlns:a16="http://schemas.microsoft.com/office/drawing/2014/main" id="{0247E990-DCE1-8D78-3D13-A12BB7BD90A2}"/>
              </a:ext>
            </a:extLst>
          </p:cNvPr>
          <p:cNvGraphicFramePr>
            <a:graphicFrameLocks noGrp="1"/>
          </p:cNvGraphicFramePr>
          <p:nvPr>
            <p:extLst>
              <p:ext uri="{D42A27DB-BD31-4B8C-83A1-F6EECF244321}">
                <p14:modId xmlns:p14="http://schemas.microsoft.com/office/powerpoint/2010/main" val="2509317123"/>
              </p:ext>
            </p:extLst>
          </p:nvPr>
        </p:nvGraphicFramePr>
        <p:xfrm>
          <a:off x="5321844" y="1658142"/>
          <a:ext cx="6090244" cy="3541715"/>
        </p:xfrm>
        <a:graphic>
          <a:graphicData uri="http://schemas.openxmlformats.org/drawingml/2006/table">
            <a:tbl>
              <a:tblPr/>
              <a:tblGrid>
                <a:gridCol w="1522561">
                  <a:extLst>
                    <a:ext uri="{9D8B030D-6E8A-4147-A177-3AD203B41FA5}">
                      <a16:colId xmlns:a16="http://schemas.microsoft.com/office/drawing/2014/main" val="437177484"/>
                    </a:ext>
                  </a:extLst>
                </a:gridCol>
                <a:gridCol w="1522561">
                  <a:extLst>
                    <a:ext uri="{9D8B030D-6E8A-4147-A177-3AD203B41FA5}">
                      <a16:colId xmlns:a16="http://schemas.microsoft.com/office/drawing/2014/main" val="1920596618"/>
                    </a:ext>
                  </a:extLst>
                </a:gridCol>
                <a:gridCol w="1522561">
                  <a:extLst>
                    <a:ext uri="{9D8B030D-6E8A-4147-A177-3AD203B41FA5}">
                      <a16:colId xmlns:a16="http://schemas.microsoft.com/office/drawing/2014/main" val="673804103"/>
                    </a:ext>
                  </a:extLst>
                </a:gridCol>
                <a:gridCol w="1522561">
                  <a:extLst>
                    <a:ext uri="{9D8B030D-6E8A-4147-A177-3AD203B41FA5}">
                      <a16:colId xmlns:a16="http://schemas.microsoft.com/office/drawing/2014/main" val="2152184437"/>
                    </a:ext>
                  </a:extLst>
                </a:gridCol>
              </a:tblGrid>
              <a:tr h="224871">
                <a:tc>
                  <a:txBody>
                    <a:bodyPr/>
                    <a:lstStyle/>
                    <a:p>
                      <a:pPr>
                        <a:buNone/>
                      </a:pPr>
                      <a:r>
                        <a:rPr lang="en-US" sz="1100"/>
                        <a:t>Rank</a:t>
                      </a:r>
                    </a:p>
                  </a:txBody>
                  <a:tcPr marL="56218" marR="56218" marT="28109" marB="28109" anchor="ctr">
                    <a:lnL>
                      <a:noFill/>
                    </a:lnL>
                    <a:lnR>
                      <a:noFill/>
                    </a:lnR>
                    <a:lnT>
                      <a:noFill/>
                    </a:lnT>
                    <a:lnB>
                      <a:noFill/>
                    </a:lnB>
                    <a:noFill/>
                  </a:tcPr>
                </a:tc>
                <a:tc>
                  <a:txBody>
                    <a:bodyPr/>
                    <a:lstStyle/>
                    <a:p>
                      <a:pPr>
                        <a:buNone/>
                      </a:pPr>
                      <a:r>
                        <a:rPr lang="en-US" sz="1100"/>
                        <a:t>Feature</a:t>
                      </a:r>
                    </a:p>
                  </a:txBody>
                  <a:tcPr marL="56218" marR="56218" marT="28109" marB="28109" anchor="ctr">
                    <a:lnL>
                      <a:noFill/>
                    </a:lnL>
                    <a:lnR>
                      <a:noFill/>
                    </a:lnR>
                    <a:lnT>
                      <a:noFill/>
                    </a:lnT>
                    <a:lnB>
                      <a:noFill/>
                    </a:lnB>
                    <a:noFill/>
                  </a:tcPr>
                </a:tc>
                <a:tc>
                  <a:txBody>
                    <a:bodyPr/>
                    <a:lstStyle/>
                    <a:p>
                      <a:pPr>
                        <a:buNone/>
                      </a:pPr>
                      <a:r>
                        <a:rPr lang="en-US" sz="1100"/>
                        <a:t>Direction</a:t>
                      </a:r>
                    </a:p>
                  </a:txBody>
                  <a:tcPr marL="56218" marR="56218" marT="28109" marB="28109" anchor="ctr">
                    <a:lnL>
                      <a:noFill/>
                    </a:lnL>
                    <a:lnR>
                      <a:noFill/>
                    </a:lnR>
                    <a:lnT>
                      <a:noFill/>
                    </a:lnT>
                    <a:lnB>
                      <a:noFill/>
                    </a:lnB>
                    <a:noFill/>
                  </a:tcPr>
                </a:tc>
                <a:tc>
                  <a:txBody>
                    <a:bodyPr/>
                    <a:lstStyle/>
                    <a:p>
                      <a:pPr>
                        <a:buNone/>
                      </a:pPr>
                      <a:r>
                        <a:rPr lang="en-US" sz="1100"/>
                        <a:t>Business Meaning</a:t>
                      </a:r>
                    </a:p>
                  </a:txBody>
                  <a:tcPr marL="56218" marR="56218" marT="28109" marB="28109" anchor="ctr">
                    <a:lnL>
                      <a:noFill/>
                    </a:lnL>
                    <a:lnR>
                      <a:noFill/>
                    </a:lnR>
                    <a:lnT>
                      <a:noFill/>
                    </a:lnT>
                    <a:lnB>
                      <a:noFill/>
                    </a:lnB>
                    <a:noFill/>
                  </a:tcPr>
                </a:tc>
                <a:extLst>
                  <a:ext uri="{0D108BD9-81ED-4DB2-BD59-A6C34878D82A}">
                    <a16:rowId xmlns:a16="http://schemas.microsoft.com/office/drawing/2014/main" val="3736856319"/>
                  </a:ext>
                </a:extLst>
              </a:tr>
              <a:tr h="393524">
                <a:tc>
                  <a:txBody>
                    <a:bodyPr/>
                    <a:lstStyle/>
                    <a:p>
                      <a:pPr>
                        <a:buNone/>
                      </a:pPr>
                      <a:r>
                        <a:rPr lang="en-US" sz="1100"/>
                        <a:t>1</a:t>
                      </a:r>
                    </a:p>
                  </a:txBody>
                  <a:tcPr marL="56218" marR="56218" marT="28109" marB="28109" anchor="ctr">
                    <a:lnL>
                      <a:noFill/>
                    </a:lnL>
                    <a:lnR>
                      <a:noFill/>
                    </a:lnR>
                    <a:lnT>
                      <a:noFill/>
                    </a:lnT>
                    <a:lnB>
                      <a:noFill/>
                    </a:lnB>
                    <a:noFill/>
                  </a:tcPr>
                </a:tc>
                <a:tc>
                  <a:txBody>
                    <a:bodyPr/>
                    <a:lstStyle/>
                    <a:p>
                      <a:pPr>
                        <a:buNone/>
                      </a:pPr>
                      <a:r>
                        <a:rPr lang="en-US" sz="1100" b="1"/>
                        <a:t>hour_of_day</a:t>
                      </a:r>
                      <a:endParaRPr lang="en-US" sz="1100"/>
                    </a:p>
                  </a:txBody>
                  <a:tcPr marL="56218" marR="56218" marT="28109" marB="28109" anchor="ctr">
                    <a:lnL>
                      <a:noFill/>
                    </a:lnL>
                    <a:lnR>
                      <a:noFill/>
                    </a:lnR>
                    <a:lnT>
                      <a:noFill/>
                    </a:lnT>
                    <a:lnB>
                      <a:noFill/>
                    </a:lnB>
                    <a:noFill/>
                  </a:tcPr>
                </a:tc>
                <a:tc>
                  <a:txBody>
                    <a:bodyPr/>
                    <a:lstStyle/>
                    <a:p>
                      <a:pPr>
                        <a:buNone/>
                      </a:pPr>
                      <a:r>
                        <a:rPr lang="en-US" sz="1100"/>
                        <a:t>↑</a:t>
                      </a:r>
                    </a:p>
                  </a:txBody>
                  <a:tcPr marL="56218" marR="56218" marT="28109" marB="28109" anchor="ctr">
                    <a:lnL>
                      <a:noFill/>
                    </a:lnL>
                    <a:lnR>
                      <a:noFill/>
                    </a:lnR>
                    <a:lnT>
                      <a:noFill/>
                    </a:lnT>
                    <a:lnB>
                      <a:noFill/>
                    </a:lnB>
                    <a:noFill/>
                  </a:tcPr>
                </a:tc>
                <a:tc>
                  <a:txBody>
                    <a:bodyPr/>
                    <a:lstStyle/>
                    <a:p>
                      <a:pPr>
                        <a:buNone/>
                      </a:pPr>
                      <a:r>
                        <a:rPr lang="en-US" sz="1100"/>
                        <a:t>Charging demand is strongly time-driven</a:t>
                      </a:r>
                    </a:p>
                  </a:txBody>
                  <a:tcPr marL="56218" marR="56218" marT="28109" marB="28109" anchor="ctr">
                    <a:lnL>
                      <a:noFill/>
                    </a:lnL>
                    <a:lnR>
                      <a:noFill/>
                    </a:lnR>
                    <a:lnT>
                      <a:noFill/>
                    </a:lnT>
                    <a:lnB>
                      <a:noFill/>
                    </a:lnB>
                    <a:noFill/>
                  </a:tcPr>
                </a:tc>
                <a:extLst>
                  <a:ext uri="{0D108BD9-81ED-4DB2-BD59-A6C34878D82A}">
                    <a16:rowId xmlns:a16="http://schemas.microsoft.com/office/drawing/2014/main" val="3634221247"/>
                  </a:ext>
                </a:extLst>
              </a:tr>
              <a:tr h="393524">
                <a:tc>
                  <a:txBody>
                    <a:bodyPr/>
                    <a:lstStyle/>
                    <a:p>
                      <a:pPr>
                        <a:buNone/>
                      </a:pPr>
                      <a:r>
                        <a:rPr lang="en-US" sz="1100"/>
                        <a:t>2</a:t>
                      </a:r>
                    </a:p>
                  </a:txBody>
                  <a:tcPr marL="56218" marR="56218" marT="28109" marB="28109" anchor="ctr">
                    <a:lnL>
                      <a:noFill/>
                    </a:lnL>
                    <a:lnR>
                      <a:noFill/>
                    </a:lnR>
                    <a:lnT>
                      <a:noFill/>
                    </a:lnT>
                    <a:lnB>
                      <a:noFill/>
                    </a:lnB>
                    <a:noFill/>
                  </a:tcPr>
                </a:tc>
                <a:tc>
                  <a:txBody>
                    <a:bodyPr/>
                    <a:lstStyle/>
                    <a:p>
                      <a:pPr>
                        <a:buNone/>
                      </a:pPr>
                      <a:r>
                        <a:rPr lang="en-US" sz="1100" b="1"/>
                        <a:t>traffic_congestion_index</a:t>
                      </a:r>
                      <a:endParaRPr lang="en-US" sz="1100"/>
                    </a:p>
                  </a:txBody>
                  <a:tcPr marL="56218" marR="56218" marT="28109" marB="28109" anchor="ctr">
                    <a:lnL>
                      <a:noFill/>
                    </a:lnL>
                    <a:lnR>
                      <a:noFill/>
                    </a:lnR>
                    <a:lnT>
                      <a:noFill/>
                    </a:lnT>
                    <a:lnB>
                      <a:noFill/>
                    </a:lnB>
                    <a:noFill/>
                  </a:tcPr>
                </a:tc>
                <a:tc>
                  <a:txBody>
                    <a:bodyPr/>
                    <a:lstStyle/>
                    <a:p>
                      <a:pPr>
                        <a:buNone/>
                      </a:pPr>
                      <a:r>
                        <a:rPr lang="en-US" sz="1100"/>
                        <a:t>↑</a:t>
                      </a:r>
                    </a:p>
                  </a:txBody>
                  <a:tcPr marL="56218" marR="56218" marT="28109" marB="28109" anchor="ctr">
                    <a:lnL>
                      <a:noFill/>
                    </a:lnL>
                    <a:lnR>
                      <a:noFill/>
                    </a:lnR>
                    <a:lnT>
                      <a:noFill/>
                    </a:lnT>
                    <a:lnB>
                      <a:noFill/>
                    </a:lnB>
                    <a:noFill/>
                  </a:tcPr>
                </a:tc>
                <a:tc>
                  <a:txBody>
                    <a:bodyPr/>
                    <a:lstStyle/>
                    <a:p>
                      <a:pPr>
                        <a:buNone/>
                      </a:pPr>
                      <a:r>
                        <a:rPr lang="en-US" sz="1100"/>
                        <a:t>Commute congestion increases charging usage</a:t>
                      </a:r>
                    </a:p>
                  </a:txBody>
                  <a:tcPr marL="56218" marR="56218" marT="28109" marB="28109" anchor="ctr">
                    <a:lnL>
                      <a:noFill/>
                    </a:lnL>
                    <a:lnR>
                      <a:noFill/>
                    </a:lnR>
                    <a:lnT>
                      <a:noFill/>
                    </a:lnT>
                    <a:lnB>
                      <a:noFill/>
                    </a:lnB>
                    <a:noFill/>
                  </a:tcPr>
                </a:tc>
                <a:extLst>
                  <a:ext uri="{0D108BD9-81ED-4DB2-BD59-A6C34878D82A}">
                    <a16:rowId xmlns:a16="http://schemas.microsoft.com/office/drawing/2014/main" val="3846737239"/>
                  </a:ext>
                </a:extLst>
              </a:tr>
              <a:tr h="393524">
                <a:tc>
                  <a:txBody>
                    <a:bodyPr/>
                    <a:lstStyle/>
                    <a:p>
                      <a:pPr>
                        <a:buNone/>
                      </a:pPr>
                      <a:r>
                        <a:rPr lang="en-US" sz="1100"/>
                        <a:t>3</a:t>
                      </a:r>
                    </a:p>
                  </a:txBody>
                  <a:tcPr marL="56218" marR="56218" marT="28109" marB="28109" anchor="ctr">
                    <a:lnL>
                      <a:noFill/>
                    </a:lnL>
                    <a:lnR>
                      <a:noFill/>
                    </a:lnR>
                    <a:lnT>
                      <a:noFill/>
                    </a:lnT>
                    <a:lnB>
                      <a:noFill/>
                    </a:lnB>
                    <a:noFill/>
                  </a:tcPr>
                </a:tc>
                <a:tc>
                  <a:txBody>
                    <a:bodyPr/>
                    <a:lstStyle/>
                    <a:p>
                      <a:pPr>
                        <a:buNone/>
                      </a:pPr>
                      <a:r>
                        <a:rPr lang="en-US" sz="1100" b="1"/>
                        <a:t>gas_price_per_gallon</a:t>
                      </a:r>
                      <a:endParaRPr lang="en-US" sz="1100"/>
                    </a:p>
                  </a:txBody>
                  <a:tcPr marL="56218" marR="56218" marT="28109" marB="28109" anchor="ctr">
                    <a:lnL>
                      <a:noFill/>
                    </a:lnL>
                    <a:lnR>
                      <a:noFill/>
                    </a:lnR>
                    <a:lnT>
                      <a:noFill/>
                    </a:lnT>
                    <a:lnB>
                      <a:noFill/>
                    </a:lnB>
                    <a:noFill/>
                  </a:tcPr>
                </a:tc>
                <a:tc>
                  <a:txBody>
                    <a:bodyPr/>
                    <a:lstStyle/>
                    <a:p>
                      <a:pPr>
                        <a:buNone/>
                      </a:pPr>
                      <a:r>
                        <a:rPr lang="en-US" sz="1100"/>
                        <a:t>↑</a:t>
                      </a:r>
                    </a:p>
                  </a:txBody>
                  <a:tcPr marL="56218" marR="56218" marT="28109" marB="28109" anchor="ctr">
                    <a:lnL>
                      <a:noFill/>
                    </a:lnL>
                    <a:lnR>
                      <a:noFill/>
                    </a:lnR>
                    <a:lnT>
                      <a:noFill/>
                    </a:lnT>
                    <a:lnB>
                      <a:noFill/>
                    </a:lnB>
                    <a:noFill/>
                  </a:tcPr>
                </a:tc>
                <a:tc>
                  <a:txBody>
                    <a:bodyPr/>
                    <a:lstStyle/>
                    <a:p>
                      <a:pPr>
                        <a:buNone/>
                      </a:pPr>
                      <a:r>
                        <a:rPr lang="en-US" sz="1100"/>
                        <a:t>Higher gas prices → more EV charging</a:t>
                      </a:r>
                    </a:p>
                  </a:txBody>
                  <a:tcPr marL="56218" marR="56218" marT="28109" marB="28109" anchor="ctr">
                    <a:lnL>
                      <a:noFill/>
                    </a:lnL>
                    <a:lnR>
                      <a:noFill/>
                    </a:lnR>
                    <a:lnT>
                      <a:noFill/>
                    </a:lnT>
                    <a:lnB>
                      <a:noFill/>
                    </a:lnB>
                    <a:noFill/>
                  </a:tcPr>
                </a:tc>
                <a:extLst>
                  <a:ext uri="{0D108BD9-81ED-4DB2-BD59-A6C34878D82A}">
                    <a16:rowId xmlns:a16="http://schemas.microsoft.com/office/drawing/2014/main" val="3654761809"/>
                  </a:ext>
                </a:extLst>
              </a:tr>
              <a:tr h="393524">
                <a:tc>
                  <a:txBody>
                    <a:bodyPr/>
                    <a:lstStyle/>
                    <a:p>
                      <a:pPr>
                        <a:buNone/>
                      </a:pPr>
                      <a:r>
                        <a:rPr lang="en-US" sz="1100"/>
                        <a:t>4</a:t>
                      </a:r>
                    </a:p>
                  </a:txBody>
                  <a:tcPr marL="56218" marR="56218" marT="28109" marB="28109" anchor="ctr">
                    <a:lnL>
                      <a:noFill/>
                    </a:lnL>
                    <a:lnR>
                      <a:noFill/>
                    </a:lnR>
                    <a:lnT>
                      <a:noFill/>
                    </a:lnT>
                    <a:lnB>
                      <a:noFill/>
                    </a:lnB>
                    <a:noFill/>
                  </a:tcPr>
                </a:tc>
                <a:tc>
                  <a:txBody>
                    <a:bodyPr/>
                    <a:lstStyle/>
                    <a:p>
                      <a:pPr>
                        <a:buNone/>
                      </a:pPr>
                      <a:r>
                        <a:rPr lang="en-US" sz="1100" b="1"/>
                        <a:t>avg_session_duration_mins</a:t>
                      </a:r>
                      <a:endParaRPr lang="en-US" sz="1100"/>
                    </a:p>
                  </a:txBody>
                  <a:tcPr marL="56218" marR="56218" marT="28109" marB="28109" anchor="ctr">
                    <a:lnL>
                      <a:noFill/>
                    </a:lnL>
                    <a:lnR>
                      <a:noFill/>
                    </a:lnR>
                    <a:lnT>
                      <a:noFill/>
                    </a:lnT>
                    <a:lnB>
                      <a:noFill/>
                    </a:lnB>
                    <a:noFill/>
                  </a:tcPr>
                </a:tc>
                <a:tc>
                  <a:txBody>
                    <a:bodyPr/>
                    <a:lstStyle/>
                    <a:p>
                      <a:pPr>
                        <a:buNone/>
                      </a:pPr>
                      <a:r>
                        <a:rPr lang="en-US" sz="1100"/>
                        <a:t>↑</a:t>
                      </a:r>
                    </a:p>
                  </a:txBody>
                  <a:tcPr marL="56218" marR="56218" marT="28109" marB="28109" anchor="ctr">
                    <a:lnL>
                      <a:noFill/>
                    </a:lnL>
                    <a:lnR>
                      <a:noFill/>
                    </a:lnR>
                    <a:lnT>
                      <a:noFill/>
                    </a:lnT>
                    <a:lnB>
                      <a:noFill/>
                    </a:lnB>
                    <a:noFill/>
                  </a:tcPr>
                </a:tc>
                <a:tc>
                  <a:txBody>
                    <a:bodyPr/>
                    <a:lstStyle/>
                    <a:p>
                      <a:pPr>
                        <a:buNone/>
                      </a:pPr>
                      <a:r>
                        <a:rPr lang="en-US" sz="1100"/>
                        <a:t>Longer sessions associate with higher utilization</a:t>
                      </a:r>
                    </a:p>
                  </a:txBody>
                  <a:tcPr marL="56218" marR="56218" marT="28109" marB="28109" anchor="ctr">
                    <a:lnL>
                      <a:noFill/>
                    </a:lnL>
                    <a:lnR>
                      <a:noFill/>
                    </a:lnR>
                    <a:lnT>
                      <a:noFill/>
                    </a:lnT>
                    <a:lnB>
                      <a:noFill/>
                    </a:lnB>
                    <a:noFill/>
                  </a:tcPr>
                </a:tc>
                <a:extLst>
                  <a:ext uri="{0D108BD9-81ED-4DB2-BD59-A6C34878D82A}">
                    <a16:rowId xmlns:a16="http://schemas.microsoft.com/office/drawing/2014/main" val="612445075"/>
                  </a:ext>
                </a:extLst>
              </a:tr>
              <a:tr h="393524">
                <a:tc>
                  <a:txBody>
                    <a:bodyPr/>
                    <a:lstStyle/>
                    <a:p>
                      <a:pPr>
                        <a:buNone/>
                      </a:pPr>
                      <a:r>
                        <a:rPr lang="en-US" sz="1100"/>
                        <a:t>5</a:t>
                      </a:r>
                    </a:p>
                  </a:txBody>
                  <a:tcPr marL="56218" marR="56218" marT="28109" marB="28109" anchor="ctr">
                    <a:lnL>
                      <a:noFill/>
                    </a:lnL>
                    <a:lnR>
                      <a:noFill/>
                    </a:lnR>
                    <a:lnT>
                      <a:noFill/>
                    </a:lnT>
                    <a:lnB>
                      <a:noFill/>
                    </a:lnB>
                    <a:noFill/>
                  </a:tcPr>
                </a:tc>
                <a:tc>
                  <a:txBody>
                    <a:bodyPr/>
                    <a:lstStyle/>
                    <a:p>
                      <a:pPr>
                        <a:buNone/>
                      </a:pPr>
                      <a:r>
                        <a:rPr lang="en-US" sz="1100" b="1"/>
                        <a:t>ports_total</a:t>
                      </a:r>
                      <a:endParaRPr lang="en-US" sz="1100"/>
                    </a:p>
                  </a:txBody>
                  <a:tcPr marL="56218" marR="56218" marT="28109" marB="28109" anchor="ctr">
                    <a:lnL>
                      <a:noFill/>
                    </a:lnL>
                    <a:lnR>
                      <a:noFill/>
                    </a:lnR>
                    <a:lnT>
                      <a:noFill/>
                    </a:lnT>
                    <a:lnB>
                      <a:noFill/>
                    </a:lnB>
                    <a:noFill/>
                  </a:tcPr>
                </a:tc>
                <a:tc>
                  <a:txBody>
                    <a:bodyPr/>
                    <a:lstStyle/>
                    <a:p>
                      <a:pPr>
                        <a:buNone/>
                      </a:pPr>
                      <a:r>
                        <a:rPr lang="en-US" sz="1100"/>
                        <a:t>↑</a:t>
                      </a:r>
                    </a:p>
                  </a:txBody>
                  <a:tcPr marL="56218" marR="56218" marT="28109" marB="28109" anchor="ctr">
                    <a:lnL>
                      <a:noFill/>
                    </a:lnL>
                    <a:lnR>
                      <a:noFill/>
                    </a:lnR>
                    <a:lnT>
                      <a:noFill/>
                    </a:lnT>
                    <a:lnB>
                      <a:noFill/>
                    </a:lnB>
                    <a:noFill/>
                  </a:tcPr>
                </a:tc>
                <a:tc>
                  <a:txBody>
                    <a:bodyPr/>
                    <a:lstStyle/>
                    <a:p>
                      <a:pPr>
                        <a:buNone/>
                      </a:pPr>
                      <a:r>
                        <a:rPr lang="en-US" sz="1100"/>
                        <a:t>Larger stations attract more usage</a:t>
                      </a:r>
                    </a:p>
                  </a:txBody>
                  <a:tcPr marL="56218" marR="56218" marT="28109" marB="28109" anchor="ctr">
                    <a:lnL>
                      <a:noFill/>
                    </a:lnL>
                    <a:lnR>
                      <a:noFill/>
                    </a:lnR>
                    <a:lnT>
                      <a:noFill/>
                    </a:lnT>
                    <a:lnB>
                      <a:noFill/>
                    </a:lnB>
                    <a:noFill/>
                  </a:tcPr>
                </a:tc>
                <a:extLst>
                  <a:ext uri="{0D108BD9-81ED-4DB2-BD59-A6C34878D82A}">
                    <a16:rowId xmlns:a16="http://schemas.microsoft.com/office/drawing/2014/main" val="2766792972"/>
                  </a:ext>
                </a:extLst>
              </a:tr>
              <a:tr h="393524">
                <a:tc>
                  <a:txBody>
                    <a:bodyPr/>
                    <a:lstStyle/>
                    <a:p>
                      <a:pPr>
                        <a:buNone/>
                      </a:pPr>
                      <a:r>
                        <a:rPr lang="en-US" sz="1100"/>
                        <a:t>6</a:t>
                      </a:r>
                    </a:p>
                  </a:txBody>
                  <a:tcPr marL="56218" marR="56218" marT="28109" marB="28109" anchor="ctr">
                    <a:lnL>
                      <a:noFill/>
                    </a:lnL>
                    <a:lnR>
                      <a:noFill/>
                    </a:lnR>
                    <a:lnT>
                      <a:noFill/>
                    </a:lnT>
                    <a:lnB>
                      <a:noFill/>
                    </a:lnB>
                    <a:noFill/>
                  </a:tcPr>
                </a:tc>
                <a:tc>
                  <a:txBody>
                    <a:bodyPr/>
                    <a:lstStyle/>
                    <a:p>
                      <a:pPr>
                        <a:buNone/>
                      </a:pPr>
                      <a:r>
                        <a:rPr lang="en-US" sz="1100" b="1"/>
                        <a:t>current_price</a:t>
                      </a:r>
                      <a:endParaRPr lang="en-US" sz="1100"/>
                    </a:p>
                  </a:txBody>
                  <a:tcPr marL="56218" marR="56218" marT="28109" marB="28109" anchor="ctr">
                    <a:lnL>
                      <a:noFill/>
                    </a:lnL>
                    <a:lnR>
                      <a:noFill/>
                    </a:lnR>
                    <a:lnT>
                      <a:noFill/>
                    </a:lnT>
                    <a:lnB>
                      <a:noFill/>
                    </a:lnB>
                    <a:noFill/>
                  </a:tcPr>
                </a:tc>
                <a:tc>
                  <a:txBody>
                    <a:bodyPr/>
                    <a:lstStyle/>
                    <a:p>
                      <a:pPr>
                        <a:buNone/>
                      </a:pPr>
                      <a:r>
                        <a:rPr lang="en-US" sz="1100"/>
                        <a:t>↑ (weak)</a:t>
                      </a:r>
                    </a:p>
                  </a:txBody>
                  <a:tcPr marL="56218" marR="56218" marT="28109" marB="28109" anchor="ctr">
                    <a:lnL>
                      <a:noFill/>
                    </a:lnL>
                    <a:lnR>
                      <a:noFill/>
                    </a:lnR>
                    <a:lnT>
                      <a:noFill/>
                    </a:lnT>
                    <a:lnB>
                      <a:noFill/>
                    </a:lnB>
                    <a:noFill/>
                  </a:tcPr>
                </a:tc>
                <a:tc>
                  <a:txBody>
                    <a:bodyPr/>
                    <a:lstStyle/>
                    <a:p>
                      <a:pPr>
                        <a:buNone/>
                      </a:pPr>
                      <a:r>
                        <a:rPr lang="en-US" sz="1100"/>
                        <a:t>Slight relationship with demand</a:t>
                      </a:r>
                    </a:p>
                  </a:txBody>
                  <a:tcPr marL="56218" marR="56218" marT="28109" marB="28109" anchor="ctr">
                    <a:lnL>
                      <a:noFill/>
                    </a:lnL>
                    <a:lnR>
                      <a:noFill/>
                    </a:lnR>
                    <a:lnT>
                      <a:noFill/>
                    </a:lnT>
                    <a:lnB>
                      <a:noFill/>
                    </a:lnB>
                    <a:noFill/>
                  </a:tcPr>
                </a:tc>
                <a:extLst>
                  <a:ext uri="{0D108BD9-81ED-4DB2-BD59-A6C34878D82A}">
                    <a16:rowId xmlns:a16="http://schemas.microsoft.com/office/drawing/2014/main" val="3629172159"/>
                  </a:ext>
                </a:extLst>
              </a:tr>
              <a:tr h="393524">
                <a:tc>
                  <a:txBody>
                    <a:bodyPr/>
                    <a:lstStyle/>
                    <a:p>
                      <a:pPr>
                        <a:buNone/>
                      </a:pPr>
                      <a:r>
                        <a:rPr lang="en-US" sz="1100"/>
                        <a:t>7</a:t>
                      </a:r>
                    </a:p>
                  </a:txBody>
                  <a:tcPr marL="56218" marR="56218" marT="28109" marB="28109" anchor="ctr">
                    <a:lnL>
                      <a:noFill/>
                    </a:lnL>
                    <a:lnR>
                      <a:noFill/>
                    </a:lnR>
                    <a:lnT>
                      <a:noFill/>
                    </a:lnT>
                    <a:lnB>
                      <a:noFill/>
                    </a:lnB>
                    <a:noFill/>
                  </a:tcPr>
                </a:tc>
                <a:tc>
                  <a:txBody>
                    <a:bodyPr/>
                    <a:lstStyle/>
                    <a:p>
                      <a:pPr>
                        <a:buNone/>
                      </a:pPr>
                      <a:r>
                        <a:rPr lang="en-US" sz="1100" b="1"/>
                        <a:t>longitude</a:t>
                      </a:r>
                      <a:endParaRPr lang="en-US" sz="1100"/>
                    </a:p>
                  </a:txBody>
                  <a:tcPr marL="56218" marR="56218" marT="28109" marB="28109" anchor="ctr">
                    <a:lnL>
                      <a:noFill/>
                    </a:lnL>
                    <a:lnR>
                      <a:noFill/>
                    </a:lnR>
                    <a:lnT>
                      <a:noFill/>
                    </a:lnT>
                    <a:lnB>
                      <a:noFill/>
                    </a:lnB>
                    <a:noFill/>
                  </a:tcPr>
                </a:tc>
                <a:tc>
                  <a:txBody>
                    <a:bodyPr/>
                    <a:lstStyle/>
                    <a:p>
                      <a:pPr>
                        <a:buNone/>
                      </a:pPr>
                      <a:r>
                        <a:rPr lang="en-US" sz="1100"/>
                        <a:t>↓</a:t>
                      </a:r>
                    </a:p>
                  </a:txBody>
                  <a:tcPr marL="56218" marR="56218" marT="28109" marB="28109" anchor="ctr">
                    <a:lnL>
                      <a:noFill/>
                    </a:lnL>
                    <a:lnR>
                      <a:noFill/>
                    </a:lnR>
                    <a:lnT>
                      <a:noFill/>
                    </a:lnT>
                    <a:lnB>
                      <a:noFill/>
                    </a:lnB>
                    <a:noFill/>
                  </a:tcPr>
                </a:tc>
                <a:tc>
                  <a:txBody>
                    <a:bodyPr/>
                    <a:lstStyle/>
                    <a:p>
                      <a:pPr>
                        <a:buNone/>
                      </a:pPr>
                      <a:r>
                        <a:rPr lang="en-US" sz="1100"/>
                        <a:t>Geographic usage differences</a:t>
                      </a:r>
                    </a:p>
                  </a:txBody>
                  <a:tcPr marL="56218" marR="56218" marT="28109" marB="28109" anchor="ctr">
                    <a:lnL>
                      <a:noFill/>
                    </a:lnL>
                    <a:lnR>
                      <a:noFill/>
                    </a:lnR>
                    <a:lnT>
                      <a:noFill/>
                    </a:lnT>
                    <a:lnB>
                      <a:noFill/>
                    </a:lnB>
                    <a:noFill/>
                  </a:tcPr>
                </a:tc>
                <a:extLst>
                  <a:ext uri="{0D108BD9-81ED-4DB2-BD59-A6C34878D82A}">
                    <a16:rowId xmlns:a16="http://schemas.microsoft.com/office/drawing/2014/main" val="3903046823"/>
                  </a:ext>
                </a:extLst>
              </a:tr>
              <a:tr h="562176">
                <a:tc>
                  <a:txBody>
                    <a:bodyPr/>
                    <a:lstStyle/>
                    <a:p>
                      <a:pPr>
                        <a:buNone/>
                      </a:pPr>
                      <a:r>
                        <a:rPr lang="en-US" sz="1100"/>
                        <a:t>8</a:t>
                      </a:r>
                    </a:p>
                  </a:txBody>
                  <a:tcPr marL="56218" marR="56218" marT="28109" marB="28109" anchor="ctr">
                    <a:lnL>
                      <a:noFill/>
                    </a:lnL>
                    <a:lnR>
                      <a:noFill/>
                    </a:lnR>
                    <a:lnT>
                      <a:noFill/>
                    </a:lnT>
                    <a:lnB>
                      <a:noFill/>
                    </a:lnB>
                    <a:noFill/>
                  </a:tcPr>
                </a:tc>
                <a:tc>
                  <a:txBody>
                    <a:bodyPr/>
                    <a:lstStyle/>
                    <a:p>
                      <a:pPr>
                        <a:buNone/>
                      </a:pPr>
                      <a:r>
                        <a:rPr lang="en-US" sz="1100" b="1"/>
                        <a:t>day_of_week</a:t>
                      </a:r>
                      <a:endParaRPr lang="en-US" sz="1100"/>
                    </a:p>
                  </a:txBody>
                  <a:tcPr marL="56218" marR="56218" marT="28109" marB="28109" anchor="ctr">
                    <a:lnL>
                      <a:noFill/>
                    </a:lnL>
                    <a:lnR>
                      <a:noFill/>
                    </a:lnR>
                    <a:lnT>
                      <a:noFill/>
                    </a:lnT>
                    <a:lnB>
                      <a:noFill/>
                    </a:lnB>
                    <a:noFill/>
                  </a:tcPr>
                </a:tc>
                <a:tc>
                  <a:txBody>
                    <a:bodyPr/>
                    <a:lstStyle/>
                    <a:p>
                      <a:pPr>
                        <a:buNone/>
                      </a:pPr>
                      <a:r>
                        <a:rPr lang="en-US" sz="1100"/>
                        <a:t>↓</a:t>
                      </a:r>
                    </a:p>
                  </a:txBody>
                  <a:tcPr marL="56218" marR="56218" marT="28109" marB="28109" anchor="ctr">
                    <a:lnL>
                      <a:noFill/>
                    </a:lnL>
                    <a:lnR>
                      <a:noFill/>
                    </a:lnR>
                    <a:lnT>
                      <a:noFill/>
                    </a:lnT>
                    <a:lnB>
                      <a:noFill/>
                    </a:lnB>
                    <a:noFill/>
                  </a:tcPr>
                </a:tc>
                <a:tc>
                  <a:txBody>
                    <a:bodyPr/>
                    <a:lstStyle/>
                    <a:p>
                      <a:pPr>
                        <a:buNone/>
                      </a:pPr>
                      <a:r>
                        <a:rPr lang="en-US" sz="1100" dirty="0"/>
                        <a:t>Slight weekday/weekend pattern</a:t>
                      </a:r>
                    </a:p>
                  </a:txBody>
                  <a:tcPr marL="56218" marR="56218" marT="28109" marB="28109" anchor="ctr">
                    <a:lnL>
                      <a:noFill/>
                    </a:lnL>
                    <a:lnR>
                      <a:noFill/>
                    </a:lnR>
                    <a:lnT>
                      <a:noFill/>
                    </a:lnT>
                    <a:lnB>
                      <a:noFill/>
                    </a:lnB>
                    <a:noFill/>
                  </a:tcPr>
                </a:tc>
                <a:extLst>
                  <a:ext uri="{0D108BD9-81ED-4DB2-BD59-A6C34878D82A}">
                    <a16:rowId xmlns:a16="http://schemas.microsoft.com/office/drawing/2014/main" val="1162509132"/>
                  </a:ext>
                </a:extLst>
              </a:tr>
            </a:tbl>
          </a:graphicData>
        </a:graphic>
      </p:graphicFrame>
    </p:spTree>
    <p:extLst>
      <p:ext uri="{BB962C8B-B14F-4D97-AF65-F5344CB8AC3E}">
        <p14:creationId xmlns:p14="http://schemas.microsoft.com/office/powerpoint/2010/main" val="283466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EECA-9726-4D54-A7C7-E2E27E32AE9A}"/>
              </a:ext>
            </a:extLst>
          </p:cNvPr>
          <p:cNvSpPr>
            <a:spLocks noGrp="1"/>
          </p:cNvSpPr>
          <p:nvPr>
            <p:ph type="title"/>
          </p:nvPr>
        </p:nvSpPr>
        <p:spPr/>
        <p:txBody>
          <a:bodyPr/>
          <a:lstStyle/>
          <a:p>
            <a:r>
              <a:rPr lang="en-US" dirty="0"/>
              <a:t>Correlation Analysis Cont.</a:t>
            </a:r>
          </a:p>
        </p:txBody>
      </p:sp>
      <p:sp>
        <p:nvSpPr>
          <p:cNvPr id="4" name="Text Placeholder 3">
            <a:extLst>
              <a:ext uri="{FF2B5EF4-FFF2-40B4-BE49-F238E27FC236}">
                <a16:creationId xmlns:a16="http://schemas.microsoft.com/office/drawing/2014/main" id="{7B57B7BA-ED81-A3E5-16DF-9D148E40C546}"/>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Focusing on Charger Type and Network Type we can see a change in the correlation analysis.</a:t>
            </a:r>
          </a:p>
          <a:p>
            <a:pPr marL="285750" indent="-285750">
              <a:buFont typeface="Arial" panose="020B0604020202020204" pitchFamily="34" charset="0"/>
              <a:buChar char="•"/>
            </a:pPr>
            <a:r>
              <a:rPr lang="en-US" dirty="0"/>
              <a:t>This slight change in the MAE RMSE and R^2 shows us a meaningful lift just by adding these two structured categorical features</a:t>
            </a:r>
          </a:p>
        </p:txBody>
      </p:sp>
      <p:pic>
        <p:nvPicPr>
          <p:cNvPr id="6" name="Picture 5" descr="A screenshot of a number&#10;&#10;AI-generated content may be incorrect.">
            <a:extLst>
              <a:ext uri="{FF2B5EF4-FFF2-40B4-BE49-F238E27FC236}">
                <a16:creationId xmlns:a16="http://schemas.microsoft.com/office/drawing/2014/main" id="{B7EF60B9-77E9-0232-E672-94B679A69031}"/>
              </a:ext>
            </a:extLst>
          </p:cNvPr>
          <p:cNvPicPr>
            <a:picLocks noChangeAspect="1"/>
          </p:cNvPicPr>
          <p:nvPr/>
        </p:nvPicPr>
        <p:blipFill>
          <a:blip r:embed="rId2"/>
          <a:stretch>
            <a:fillRect/>
          </a:stretch>
        </p:blipFill>
        <p:spPr>
          <a:xfrm>
            <a:off x="5716493" y="2594808"/>
            <a:ext cx="3669553" cy="1398641"/>
          </a:xfrm>
          <a:prstGeom prst="rect">
            <a:avLst/>
          </a:prstGeom>
        </p:spPr>
      </p:pic>
    </p:spTree>
    <p:extLst>
      <p:ext uri="{BB962C8B-B14F-4D97-AF65-F5344CB8AC3E}">
        <p14:creationId xmlns:p14="http://schemas.microsoft.com/office/powerpoint/2010/main" val="3008310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3E6C3-33BB-67FC-C36E-0A207D0322C1}"/>
              </a:ext>
            </a:extLst>
          </p:cNvPr>
          <p:cNvSpPr>
            <a:spLocks noGrp="1"/>
          </p:cNvSpPr>
          <p:nvPr>
            <p:ph type="title"/>
          </p:nvPr>
        </p:nvSpPr>
        <p:spPr/>
        <p:txBody>
          <a:bodyPr/>
          <a:lstStyle/>
          <a:p>
            <a:r>
              <a:rPr lang="en-US" dirty="0"/>
              <a:t>Network Matters A lot</a:t>
            </a:r>
          </a:p>
        </p:txBody>
      </p:sp>
      <p:sp>
        <p:nvSpPr>
          <p:cNvPr id="4" name="Text Placeholder 3">
            <a:extLst>
              <a:ext uri="{FF2B5EF4-FFF2-40B4-BE49-F238E27FC236}">
                <a16:creationId xmlns:a16="http://schemas.microsoft.com/office/drawing/2014/main" id="{C8805A87-CAA2-856D-B9EA-82C3339A8D86}"/>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dirty="0"/>
              <a:t>By adding Charger Types and Network Type we can see utilization differences across networks and network parameters are stronger than most numeric drivers.</a:t>
            </a:r>
          </a:p>
          <a:p>
            <a:pPr marL="742950" lvl="1" indent="-285750">
              <a:buFont typeface="Arial" panose="020B0604020202020204" pitchFamily="34" charset="0"/>
              <a:buChar char="•"/>
            </a:pPr>
            <a:r>
              <a:rPr lang="en-US" dirty="0"/>
              <a:t>Infrastructure quality</a:t>
            </a:r>
          </a:p>
          <a:p>
            <a:pPr marL="742950" lvl="1" indent="-285750">
              <a:buFont typeface="Arial" panose="020B0604020202020204" pitchFamily="34" charset="0"/>
              <a:buChar char="•"/>
            </a:pPr>
            <a:r>
              <a:rPr lang="en-US" dirty="0"/>
              <a:t>Location strategy</a:t>
            </a:r>
          </a:p>
          <a:p>
            <a:pPr marL="742950" lvl="1" indent="-285750">
              <a:buFont typeface="Arial" panose="020B0604020202020204" pitchFamily="34" charset="0"/>
              <a:buChar char="•"/>
            </a:pPr>
            <a:r>
              <a:rPr lang="en-US" dirty="0"/>
              <a:t>Brand ecosystem effects</a:t>
            </a:r>
          </a:p>
        </p:txBody>
      </p:sp>
      <p:graphicFrame>
        <p:nvGraphicFramePr>
          <p:cNvPr id="5" name="Table 4">
            <a:extLst>
              <a:ext uri="{FF2B5EF4-FFF2-40B4-BE49-F238E27FC236}">
                <a16:creationId xmlns:a16="http://schemas.microsoft.com/office/drawing/2014/main" id="{95C6B8CA-30F7-8A36-6201-82B843315884}"/>
              </a:ext>
            </a:extLst>
          </p:cNvPr>
          <p:cNvGraphicFramePr>
            <a:graphicFrameLocks noGrp="1"/>
          </p:cNvGraphicFramePr>
          <p:nvPr>
            <p:extLst>
              <p:ext uri="{D42A27DB-BD31-4B8C-83A1-F6EECF244321}">
                <p14:modId xmlns:p14="http://schemas.microsoft.com/office/powerpoint/2010/main" val="584003293"/>
              </p:ext>
            </p:extLst>
          </p:nvPr>
        </p:nvGraphicFramePr>
        <p:xfrm>
          <a:off x="5848607" y="1433368"/>
          <a:ext cx="5196688" cy="4357835"/>
        </p:xfrm>
        <a:graphic>
          <a:graphicData uri="http://schemas.openxmlformats.org/drawingml/2006/table">
            <a:tbl>
              <a:tblPr/>
              <a:tblGrid>
                <a:gridCol w="1299172">
                  <a:extLst>
                    <a:ext uri="{9D8B030D-6E8A-4147-A177-3AD203B41FA5}">
                      <a16:colId xmlns:a16="http://schemas.microsoft.com/office/drawing/2014/main" val="3839700031"/>
                    </a:ext>
                  </a:extLst>
                </a:gridCol>
                <a:gridCol w="1299172">
                  <a:extLst>
                    <a:ext uri="{9D8B030D-6E8A-4147-A177-3AD203B41FA5}">
                      <a16:colId xmlns:a16="http://schemas.microsoft.com/office/drawing/2014/main" val="741102895"/>
                    </a:ext>
                  </a:extLst>
                </a:gridCol>
                <a:gridCol w="1299172">
                  <a:extLst>
                    <a:ext uri="{9D8B030D-6E8A-4147-A177-3AD203B41FA5}">
                      <a16:colId xmlns:a16="http://schemas.microsoft.com/office/drawing/2014/main" val="4137641787"/>
                    </a:ext>
                  </a:extLst>
                </a:gridCol>
                <a:gridCol w="1299172">
                  <a:extLst>
                    <a:ext uri="{9D8B030D-6E8A-4147-A177-3AD203B41FA5}">
                      <a16:colId xmlns:a16="http://schemas.microsoft.com/office/drawing/2014/main" val="1731383538"/>
                    </a:ext>
                  </a:extLst>
                </a:gridCol>
              </a:tblGrid>
              <a:tr h="226380">
                <a:tc>
                  <a:txBody>
                    <a:bodyPr/>
                    <a:lstStyle/>
                    <a:p>
                      <a:pPr>
                        <a:buNone/>
                      </a:pPr>
                      <a:r>
                        <a:rPr lang="en-US" sz="900"/>
                        <a:t>Rank</a:t>
                      </a:r>
                    </a:p>
                  </a:txBody>
                  <a:tcPr marL="45996" marR="45996" marT="22998" marB="22998" anchor="ctr">
                    <a:lnL>
                      <a:noFill/>
                    </a:lnL>
                    <a:lnR>
                      <a:noFill/>
                    </a:lnR>
                    <a:lnT>
                      <a:noFill/>
                    </a:lnT>
                    <a:lnB>
                      <a:noFill/>
                    </a:lnB>
                    <a:noFill/>
                  </a:tcPr>
                </a:tc>
                <a:tc>
                  <a:txBody>
                    <a:bodyPr/>
                    <a:lstStyle/>
                    <a:p>
                      <a:pPr>
                        <a:buNone/>
                      </a:pPr>
                      <a:r>
                        <a:rPr lang="en-US" sz="900"/>
                        <a:t>Feature</a:t>
                      </a:r>
                    </a:p>
                  </a:txBody>
                  <a:tcPr marL="45996" marR="45996" marT="22998" marB="22998" anchor="ctr">
                    <a:lnL>
                      <a:noFill/>
                    </a:lnL>
                    <a:lnR>
                      <a:noFill/>
                    </a:lnR>
                    <a:lnT>
                      <a:noFill/>
                    </a:lnT>
                    <a:lnB>
                      <a:noFill/>
                    </a:lnB>
                    <a:noFill/>
                  </a:tcPr>
                </a:tc>
                <a:tc>
                  <a:txBody>
                    <a:bodyPr/>
                    <a:lstStyle/>
                    <a:p>
                      <a:pPr>
                        <a:buNone/>
                      </a:pPr>
                      <a:r>
                        <a:rPr lang="en-US" sz="900"/>
                        <a:t>Impact Direction</a:t>
                      </a:r>
                    </a:p>
                  </a:txBody>
                  <a:tcPr marL="45996" marR="45996" marT="22998" marB="22998" anchor="ctr">
                    <a:lnL>
                      <a:noFill/>
                    </a:lnL>
                    <a:lnR>
                      <a:noFill/>
                    </a:lnR>
                    <a:lnT>
                      <a:noFill/>
                    </a:lnT>
                    <a:lnB>
                      <a:noFill/>
                    </a:lnB>
                    <a:noFill/>
                  </a:tcPr>
                </a:tc>
                <a:tc>
                  <a:txBody>
                    <a:bodyPr/>
                    <a:lstStyle/>
                    <a:p>
                      <a:pPr>
                        <a:buNone/>
                      </a:pPr>
                      <a:r>
                        <a:rPr lang="en-US" sz="900"/>
                        <a:t>Interpretation</a:t>
                      </a:r>
                    </a:p>
                  </a:txBody>
                  <a:tcPr marL="45996" marR="45996" marT="22998" marB="22998" anchor="ctr">
                    <a:lnL>
                      <a:noFill/>
                    </a:lnL>
                    <a:lnR>
                      <a:noFill/>
                    </a:lnR>
                    <a:lnT>
                      <a:noFill/>
                    </a:lnT>
                    <a:lnB>
                      <a:noFill/>
                    </a:lnB>
                    <a:noFill/>
                  </a:tcPr>
                </a:tc>
                <a:extLst>
                  <a:ext uri="{0D108BD9-81ED-4DB2-BD59-A6C34878D82A}">
                    <a16:rowId xmlns:a16="http://schemas.microsoft.com/office/drawing/2014/main" val="653449092"/>
                  </a:ext>
                </a:extLst>
              </a:tr>
              <a:tr h="396167">
                <a:tc>
                  <a:txBody>
                    <a:bodyPr/>
                    <a:lstStyle/>
                    <a:p>
                      <a:pPr>
                        <a:buNone/>
                      </a:pPr>
                      <a:r>
                        <a:rPr lang="en-US" sz="900"/>
                        <a:t>1</a:t>
                      </a:r>
                    </a:p>
                  </a:txBody>
                  <a:tcPr marL="45996" marR="45996" marT="22998" marB="22998" anchor="ctr">
                    <a:lnL>
                      <a:noFill/>
                    </a:lnL>
                    <a:lnR>
                      <a:noFill/>
                    </a:lnR>
                    <a:lnT>
                      <a:noFill/>
                    </a:lnT>
                    <a:lnB>
                      <a:noFill/>
                    </a:lnB>
                    <a:noFill/>
                  </a:tcPr>
                </a:tc>
                <a:tc>
                  <a:txBody>
                    <a:bodyPr/>
                    <a:lstStyle/>
                    <a:p>
                      <a:pPr>
                        <a:buNone/>
                      </a:pPr>
                      <a:r>
                        <a:rPr lang="en-US" sz="900" b="1"/>
                        <a:t>network_Volta</a:t>
                      </a:r>
                      <a:endParaRPr lang="en-US" sz="900"/>
                    </a:p>
                  </a:txBody>
                  <a:tcPr marL="45996" marR="45996" marT="22998" marB="22998" anchor="ctr">
                    <a:lnL>
                      <a:noFill/>
                    </a:lnL>
                    <a:lnR>
                      <a:noFill/>
                    </a:lnR>
                    <a:lnT>
                      <a:noFill/>
                    </a:lnT>
                    <a:lnB>
                      <a:noFill/>
                    </a:lnB>
                    <a:noFill/>
                  </a:tcPr>
                </a:tc>
                <a:tc>
                  <a:txBody>
                    <a:bodyPr/>
                    <a:lstStyle/>
                    <a:p>
                      <a:pPr>
                        <a:buNone/>
                      </a:pPr>
                      <a:r>
                        <a:rPr lang="en-US" sz="900" dirty="0"/>
                        <a:t>↑↑</a:t>
                      </a:r>
                    </a:p>
                  </a:txBody>
                  <a:tcPr marL="45996" marR="45996" marT="22998" marB="22998" anchor="ctr">
                    <a:lnL>
                      <a:noFill/>
                    </a:lnL>
                    <a:lnR>
                      <a:noFill/>
                    </a:lnR>
                    <a:lnT>
                      <a:noFill/>
                    </a:lnT>
                    <a:lnB>
                      <a:noFill/>
                    </a:lnB>
                    <a:noFill/>
                  </a:tcPr>
                </a:tc>
                <a:tc>
                  <a:txBody>
                    <a:bodyPr/>
                    <a:lstStyle/>
                    <a:p>
                      <a:pPr>
                        <a:buNone/>
                      </a:pPr>
                      <a:r>
                        <a:rPr lang="en-US" sz="900"/>
                        <a:t>Very strong utilization effect</a:t>
                      </a:r>
                    </a:p>
                  </a:txBody>
                  <a:tcPr marL="45996" marR="45996" marT="22998" marB="22998" anchor="ctr">
                    <a:lnL>
                      <a:noFill/>
                    </a:lnL>
                    <a:lnR>
                      <a:noFill/>
                    </a:lnR>
                    <a:lnT>
                      <a:noFill/>
                    </a:lnT>
                    <a:lnB>
                      <a:noFill/>
                    </a:lnB>
                    <a:noFill/>
                  </a:tcPr>
                </a:tc>
                <a:extLst>
                  <a:ext uri="{0D108BD9-81ED-4DB2-BD59-A6C34878D82A}">
                    <a16:rowId xmlns:a16="http://schemas.microsoft.com/office/drawing/2014/main" val="2707877814"/>
                  </a:ext>
                </a:extLst>
              </a:tr>
              <a:tr h="396167">
                <a:tc>
                  <a:txBody>
                    <a:bodyPr/>
                    <a:lstStyle/>
                    <a:p>
                      <a:pPr>
                        <a:buNone/>
                      </a:pPr>
                      <a:r>
                        <a:rPr lang="en-US" sz="900"/>
                        <a:t>2</a:t>
                      </a:r>
                    </a:p>
                  </a:txBody>
                  <a:tcPr marL="45996" marR="45996" marT="22998" marB="22998" anchor="ctr">
                    <a:lnL>
                      <a:noFill/>
                    </a:lnL>
                    <a:lnR>
                      <a:noFill/>
                    </a:lnR>
                    <a:lnT>
                      <a:noFill/>
                    </a:lnT>
                    <a:lnB>
                      <a:noFill/>
                    </a:lnB>
                    <a:noFill/>
                  </a:tcPr>
                </a:tc>
                <a:tc>
                  <a:txBody>
                    <a:bodyPr/>
                    <a:lstStyle/>
                    <a:p>
                      <a:pPr>
                        <a:buNone/>
                      </a:pPr>
                      <a:r>
                        <a:rPr lang="en-US" sz="900" b="1"/>
                        <a:t>network_ChargePoint</a:t>
                      </a:r>
                      <a:endParaRPr lang="en-US" sz="90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a:t>Higher usage relative to baseline network</a:t>
                      </a:r>
                    </a:p>
                  </a:txBody>
                  <a:tcPr marL="45996" marR="45996" marT="22998" marB="22998" anchor="ctr">
                    <a:lnL>
                      <a:noFill/>
                    </a:lnL>
                    <a:lnR>
                      <a:noFill/>
                    </a:lnR>
                    <a:lnT>
                      <a:noFill/>
                    </a:lnT>
                    <a:lnB>
                      <a:noFill/>
                    </a:lnB>
                    <a:noFill/>
                  </a:tcPr>
                </a:tc>
                <a:extLst>
                  <a:ext uri="{0D108BD9-81ED-4DB2-BD59-A6C34878D82A}">
                    <a16:rowId xmlns:a16="http://schemas.microsoft.com/office/drawing/2014/main" val="3068967452"/>
                  </a:ext>
                </a:extLst>
              </a:tr>
              <a:tr h="396167">
                <a:tc>
                  <a:txBody>
                    <a:bodyPr/>
                    <a:lstStyle/>
                    <a:p>
                      <a:pPr>
                        <a:buNone/>
                      </a:pPr>
                      <a:r>
                        <a:rPr lang="en-US" sz="900"/>
                        <a:t>3</a:t>
                      </a:r>
                    </a:p>
                  </a:txBody>
                  <a:tcPr marL="45996" marR="45996" marT="22998" marB="22998" anchor="ctr">
                    <a:lnL>
                      <a:noFill/>
                    </a:lnL>
                    <a:lnR>
                      <a:noFill/>
                    </a:lnR>
                    <a:lnT>
                      <a:noFill/>
                    </a:lnT>
                    <a:lnB>
                      <a:noFill/>
                    </a:lnB>
                    <a:noFill/>
                  </a:tcPr>
                </a:tc>
                <a:tc>
                  <a:txBody>
                    <a:bodyPr/>
                    <a:lstStyle/>
                    <a:p>
                      <a:pPr>
                        <a:buNone/>
                      </a:pPr>
                      <a:r>
                        <a:rPr lang="en-US" sz="900" b="1" dirty="0" err="1"/>
                        <a:t>current_price</a:t>
                      </a:r>
                      <a:endParaRPr lang="en-US" sz="900" dirty="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a:t>Pricing strongly associated with demand</a:t>
                      </a:r>
                    </a:p>
                  </a:txBody>
                  <a:tcPr marL="45996" marR="45996" marT="22998" marB="22998" anchor="ctr">
                    <a:lnL>
                      <a:noFill/>
                    </a:lnL>
                    <a:lnR>
                      <a:noFill/>
                    </a:lnR>
                    <a:lnT>
                      <a:noFill/>
                    </a:lnT>
                    <a:lnB>
                      <a:noFill/>
                    </a:lnB>
                    <a:noFill/>
                  </a:tcPr>
                </a:tc>
                <a:extLst>
                  <a:ext uri="{0D108BD9-81ED-4DB2-BD59-A6C34878D82A}">
                    <a16:rowId xmlns:a16="http://schemas.microsoft.com/office/drawing/2014/main" val="184886274"/>
                  </a:ext>
                </a:extLst>
              </a:tr>
              <a:tr h="396167">
                <a:tc>
                  <a:txBody>
                    <a:bodyPr/>
                    <a:lstStyle/>
                    <a:p>
                      <a:pPr>
                        <a:buNone/>
                      </a:pPr>
                      <a:r>
                        <a:rPr lang="en-US" sz="900"/>
                        <a:t>4</a:t>
                      </a:r>
                    </a:p>
                  </a:txBody>
                  <a:tcPr marL="45996" marR="45996" marT="22998" marB="22998" anchor="ctr">
                    <a:lnL>
                      <a:noFill/>
                    </a:lnL>
                    <a:lnR>
                      <a:noFill/>
                    </a:lnR>
                    <a:lnT>
                      <a:noFill/>
                    </a:lnT>
                    <a:lnB>
                      <a:noFill/>
                    </a:lnB>
                    <a:noFill/>
                  </a:tcPr>
                </a:tc>
                <a:tc>
                  <a:txBody>
                    <a:bodyPr/>
                    <a:lstStyle/>
                    <a:p>
                      <a:pPr>
                        <a:buNone/>
                      </a:pPr>
                      <a:r>
                        <a:rPr lang="en-US" sz="900" b="1"/>
                        <a:t>network_EVgo</a:t>
                      </a:r>
                      <a:endParaRPr lang="en-US" sz="90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a:t>Network-level utilization differences</a:t>
                      </a:r>
                    </a:p>
                  </a:txBody>
                  <a:tcPr marL="45996" marR="45996" marT="22998" marB="22998" anchor="ctr">
                    <a:lnL>
                      <a:noFill/>
                    </a:lnL>
                    <a:lnR>
                      <a:noFill/>
                    </a:lnR>
                    <a:lnT>
                      <a:noFill/>
                    </a:lnT>
                    <a:lnB>
                      <a:noFill/>
                    </a:lnB>
                    <a:noFill/>
                  </a:tcPr>
                </a:tc>
                <a:extLst>
                  <a:ext uri="{0D108BD9-81ED-4DB2-BD59-A6C34878D82A}">
                    <a16:rowId xmlns:a16="http://schemas.microsoft.com/office/drawing/2014/main" val="3820282112"/>
                  </a:ext>
                </a:extLst>
              </a:tr>
              <a:tr h="396167">
                <a:tc>
                  <a:txBody>
                    <a:bodyPr/>
                    <a:lstStyle/>
                    <a:p>
                      <a:pPr>
                        <a:buNone/>
                      </a:pPr>
                      <a:r>
                        <a:rPr lang="en-US" sz="900"/>
                        <a:t>5</a:t>
                      </a:r>
                    </a:p>
                  </a:txBody>
                  <a:tcPr marL="45996" marR="45996" marT="22998" marB="22998" anchor="ctr">
                    <a:lnL>
                      <a:noFill/>
                    </a:lnL>
                    <a:lnR>
                      <a:noFill/>
                    </a:lnR>
                    <a:lnT>
                      <a:noFill/>
                    </a:lnT>
                    <a:lnB>
                      <a:noFill/>
                    </a:lnB>
                    <a:noFill/>
                  </a:tcPr>
                </a:tc>
                <a:tc>
                  <a:txBody>
                    <a:bodyPr/>
                    <a:lstStyle/>
                    <a:p>
                      <a:pPr>
                        <a:buNone/>
                      </a:pPr>
                      <a:r>
                        <a:rPr lang="en-US" sz="900" b="1"/>
                        <a:t>network_EVCS</a:t>
                      </a:r>
                      <a:endParaRPr lang="en-US" sz="90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a:t>Same — network operational impact</a:t>
                      </a:r>
                    </a:p>
                  </a:txBody>
                  <a:tcPr marL="45996" marR="45996" marT="22998" marB="22998" anchor="ctr">
                    <a:lnL>
                      <a:noFill/>
                    </a:lnL>
                    <a:lnR>
                      <a:noFill/>
                    </a:lnR>
                    <a:lnT>
                      <a:noFill/>
                    </a:lnT>
                    <a:lnB>
                      <a:noFill/>
                    </a:lnB>
                    <a:noFill/>
                  </a:tcPr>
                </a:tc>
                <a:extLst>
                  <a:ext uri="{0D108BD9-81ED-4DB2-BD59-A6C34878D82A}">
                    <a16:rowId xmlns:a16="http://schemas.microsoft.com/office/drawing/2014/main" val="2651316864"/>
                  </a:ext>
                </a:extLst>
              </a:tr>
              <a:tr h="565952">
                <a:tc>
                  <a:txBody>
                    <a:bodyPr/>
                    <a:lstStyle/>
                    <a:p>
                      <a:pPr>
                        <a:buNone/>
                      </a:pPr>
                      <a:r>
                        <a:rPr lang="en-US" sz="900"/>
                        <a:t>6</a:t>
                      </a:r>
                    </a:p>
                  </a:txBody>
                  <a:tcPr marL="45996" marR="45996" marT="22998" marB="22998" anchor="ctr">
                    <a:lnL>
                      <a:noFill/>
                    </a:lnL>
                    <a:lnR>
                      <a:noFill/>
                    </a:lnR>
                    <a:lnT>
                      <a:noFill/>
                    </a:lnT>
                    <a:lnB>
                      <a:noFill/>
                    </a:lnB>
                    <a:noFill/>
                  </a:tcPr>
                </a:tc>
                <a:tc>
                  <a:txBody>
                    <a:bodyPr/>
                    <a:lstStyle/>
                    <a:p>
                      <a:pPr>
                        <a:buNone/>
                      </a:pPr>
                      <a:r>
                        <a:rPr lang="en-US" sz="900" b="1"/>
                        <a:t>network_Tesla Supercharger</a:t>
                      </a:r>
                      <a:endParaRPr lang="en-US" sz="900"/>
                    </a:p>
                  </a:txBody>
                  <a:tcPr marL="45996" marR="45996" marT="22998" marB="22998" anchor="ctr">
                    <a:lnL>
                      <a:noFill/>
                    </a:lnL>
                    <a:lnR>
                      <a:noFill/>
                    </a:lnR>
                    <a:lnT>
                      <a:noFill/>
                    </a:lnT>
                    <a:lnB>
                      <a:noFill/>
                    </a:lnB>
                    <a:noFill/>
                  </a:tcPr>
                </a:tc>
                <a:tc>
                  <a:txBody>
                    <a:bodyPr/>
                    <a:lstStyle/>
                    <a:p>
                      <a:pPr>
                        <a:buNone/>
                      </a:pPr>
                      <a:r>
                        <a:rPr lang="en-US" sz="900" dirty="0"/>
                        <a:t>↑</a:t>
                      </a:r>
                    </a:p>
                  </a:txBody>
                  <a:tcPr marL="45996" marR="45996" marT="22998" marB="22998" anchor="ctr">
                    <a:lnL>
                      <a:noFill/>
                    </a:lnL>
                    <a:lnR>
                      <a:noFill/>
                    </a:lnR>
                    <a:lnT>
                      <a:noFill/>
                    </a:lnT>
                    <a:lnB>
                      <a:noFill/>
                    </a:lnB>
                    <a:noFill/>
                  </a:tcPr>
                </a:tc>
                <a:tc>
                  <a:txBody>
                    <a:bodyPr/>
                    <a:lstStyle/>
                    <a:p>
                      <a:pPr>
                        <a:buNone/>
                      </a:pPr>
                      <a:r>
                        <a:rPr lang="en-US" sz="900" dirty="0"/>
                        <a:t>Strong brand/infrastructure effect</a:t>
                      </a:r>
                    </a:p>
                  </a:txBody>
                  <a:tcPr marL="45996" marR="45996" marT="22998" marB="22998" anchor="ctr">
                    <a:lnL>
                      <a:noFill/>
                    </a:lnL>
                    <a:lnR>
                      <a:noFill/>
                    </a:lnR>
                    <a:lnT>
                      <a:noFill/>
                    </a:lnT>
                    <a:lnB>
                      <a:noFill/>
                    </a:lnB>
                    <a:noFill/>
                  </a:tcPr>
                </a:tc>
                <a:extLst>
                  <a:ext uri="{0D108BD9-81ED-4DB2-BD59-A6C34878D82A}">
                    <a16:rowId xmlns:a16="http://schemas.microsoft.com/office/drawing/2014/main" val="1789564585"/>
                  </a:ext>
                </a:extLst>
              </a:tr>
              <a:tr h="396167">
                <a:tc>
                  <a:txBody>
                    <a:bodyPr/>
                    <a:lstStyle/>
                    <a:p>
                      <a:pPr>
                        <a:buNone/>
                      </a:pPr>
                      <a:r>
                        <a:rPr lang="en-US" sz="900"/>
                        <a:t>7</a:t>
                      </a:r>
                    </a:p>
                  </a:txBody>
                  <a:tcPr marL="45996" marR="45996" marT="22998" marB="22998" anchor="ctr">
                    <a:lnL>
                      <a:noFill/>
                    </a:lnL>
                    <a:lnR>
                      <a:noFill/>
                    </a:lnR>
                    <a:lnT>
                      <a:noFill/>
                    </a:lnT>
                    <a:lnB>
                      <a:noFill/>
                    </a:lnB>
                    <a:noFill/>
                  </a:tcPr>
                </a:tc>
                <a:tc>
                  <a:txBody>
                    <a:bodyPr/>
                    <a:lstStyle/>
                    <a:p>
                      <a:pPr>
                        <a:buNone/>
                      </a:pPr>
                      <a:r>
                        <a:rPr lang="en-US" sz="900" b="1"/>
                        <a:t>charger_type_Tesla DC Fast</a:t>
                      </a:r>
                      <a:endParaRPr lang="en-US" sz="90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a:t>Fast Tesla chargers drive usage</a:t>
                      </a:r>
                    </a:p>
                  </a:txBody>
                  <a:tcPr marL="45996" marR="45996" marT="22998" marB="22998" anchor="ctr">
                    <a:lnL>
                      <a:noFill/>
                    </a:lnL>
                    <a:lnR>
                      <a:noFill/>
                    </a:lnR>
                    <a:lnT>
                      <a:noFill/>
                    </a:lnT>
                    <a:lnB>
                      <a:noFill/>
                    </a:lnB>
                    <a:noFill/>
                  </a:tcPr>
                </a:tc>
                <a:extLst>
                  <a:ext uri="{0D108BD9-81ED-4DB2-BD59-A6C34878D82A}">
                    <a16:rowId xmlns:a16="http://schemas.microsoft.com/office/drawing/2014/main" val="1646761586"/>
                  </a:ext>
                </a:extLst>
              </a:tr>
              <a:tr h="396167">
                <a:tc>
                  <a:txBody>
                    <a:bodyPr/>
                    <a:lstStyle/>
                    <a:p>
                      <a:pPr>
                        <a:buNone/>
                      </a:pPr>
                      <a:r>
                        <a:rPr lang="en-US" sz="900"/>
                        <a:t>8</a:t>
                      </a:r>
                    </a:p>
                  </a:txBody>
                  <a:tcPr marL="45996" marR="45996" marT="22998" marB="22998" anchor="ctr">
                    <a:lnL>
                      <a:noFill/>
                    </a:lnL>
                    <a:lnR>
                      <a:noFill/>
                    </a:lnR>
                    <a:lnT>
                      <a:noFill/>
                    </a:lnT>
                    <a:lnB>
                      <a:noFill/>
                    </a:lnB>
                    <a:noFill/>
                  </a:tcPr>
                </a:tc>
                <a:tc>
                  <a:txBody>
                    <a:bodyPr/>
                    <a:lstStyle/>
                    <a:p>
                      <a:pPr>
                        <a:buNone/>
                      </a:pPr>
                      <a:r>
                        <a:rPr lang="en-US" sz="900" b="1"/>
                        <a:t>hour_of_day</a:t>
                      </a:r>
                      <a:endParaRPr lang="en-US" sz="90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dirty="0"/>
                        <a:t>Time-of-day remains critical</a:t>
                      </a:r>
                    </a:p>
                  </a:txBody>
                  <a:tcPr marL="45996" marR="45996" marT="22998" marB="22998" anchor="ctr">
                    <a:lnL>
                      <a:noFill/>
                    </a:lnL>
                    <a:lnR>
                      <a:noFill/>
                    </a:lnR>
                    <a:lnT>
                      <a:noFill/>
                    </a:lnT>
                    <a:lnB>
                      <a:noFill/>
                    </a:lnB>
                    <a:noFill/>
                  </a:tcPr>
                </a:tc>
                <a:extLst>
                  <a:ext uri="{0D108BD9-81ED-4DB2-BD59-A6C34878D82A}">
                    <a16:rowId xmlns:a16="http://schemas.microsoft.com/office/drawing/2014/main" val="2907080833"/>
                  </a:ext>
                </a:extLst>
              </a:tr>
              <a:tr h="396167">
                <a:tc>
                  <a:txBody>
                    <a:bodyPr/>
                    <a:lstStyle/>
                    <a:p>
                      <a:pPr>
                        <a:buNone/>
                      </a:pPr>
                      <a:r>
                        <a:rPr lang="en-US" sz="900"/>
                        <a:t>9</a:t>
                      </a:r>
                    </a:p>
                  </a:txBody>
                  <a:tcPr marL="45996" marR="45996" marT="22998" marB="22998" anchor="ctr">
                    <a:lnL>
                      <a:noFill/>
                    </a:lnL>
                    <a:lnR>
                      <a:noFill/>
                    </a:lnR>
                    <a:lnT>
                      <a:noFill/>
                    </a:lnT>
                    <a:lnB>
                      <a:noFill/>
                    </a:lnB>
                    <a:noFill/>
                  </a:tcPr>
                </a:tc>
                <a:tc>
                  <a:txBody>
                    <a:bodyPr/>
                    <a:lstStyle/>
                    <a:p>
                      <a:pPr>
                        <a:buNone/>
                      </a:pPr>
                      <a:r>
                        <a:rPr lang="en-US" sz="900" b="1"/>
                        <a:t>traffic_congestion_index</a:t>
                      </a:r>
                      <a:endParaRPr lang="en-US" sz="90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a:t>Commute effect still strong</a:t>
                      </a:r>
                    </a:p>
                  </a:txBody>
                  <a:tcPr marL="45996" marR="45996" marT="22998" marB="22998" anchor="ctr">
                    <a:lnL>
                      <a:noFill/>
                    </a:lnL>
                    <a:lnR>
                      <a:noFill/>
                    </a:lnR>
                    <a:lnT>
                      <a:noFill/>
                    </a:lnT>
                    <a:lnB>
                      <a:noFill/>
                    </a:lnB>
                    <a:noFill/>
                  </a:tcPr>
                </a:tc>
                <a:extLst>
                  <a:ext uri="{0D108BD9-81ED-4DB2-BD59-A6C34878D82A}">
                    <a16:rowId xmlns:a16="http://schemas.microsoft.com/office/drawing/2014/main" val="274230089"/>
                  </a:ext>
                </a:extLst>
              </a:tr>
              <a:tr h="396167">
                <a:tc>
                  <a:txBody>
                    <a:bodyPr/>
                    <a:lstStyle/>
                    <a:p>
                      <a:pPr>
                        <a:buNone/>
                      </a:pPr>
                      <a:r>
                        <a:rPr lang="en-US" sz="900"/>
                        <a:t>10</a:t>
                      </a:r>
                    </a:p>
                  </a:txBody>
                  <a:tcPr marL="45996" marR="45996" marT="22998" marB="22998" anchor="ctr">
                    <a:lnL>
                      <a:noFill/>
                    </a:lnL>
                    <a:lnR>
                      <a:noFill/>
                    </a:lnR>
                    <a:lnT>
                      <a:noFill/>
                    </a:lnT>
                    <a:lnB>
                      <a:noFill/>
                    </a:lnB>
                    <a:noFill/>
                  </a:tcPr>
                </a:tc>
                <a:tc>
                  <a:txBody>
                    <a:bodyPr/>
                    <a:lstStyle/>
                    <a:p>
                      <a:pPr>
                        <a:buNone/>
                      </a:pPr>
                      <a:r>
                        <a:rPr lang="en-US" sz="900" b="1"/>
                        <a:t>gas_price_per_gallon</a:t>
                      </a:r>
                      <a:endParaRPr lang="en-US" sz="900"/>
                    </a:p>
                  </a:txBody>
                  <a:tcPr marL="45996" marR="45996" marT="22998" marB="22998" anchor="ctr">
                    <a:lnL>
                      <a:noFill/>
                    </a:lnL>
                    <a:lnR>
                      <a:noFill/>
                    </a:lnR>
                    <a:lnT>
                      <a:noFill/>
                    </a:lnT>
                    <a:lnB>
                      <a:noFill/>
                    </a:lnB>
                    <a:noFill/>
                  </a:tcPr>
                </a:tc>
                <a:tc>
                  <a:txBody>
                    <a:bodyPr/>
                    <a:lstStyle/>
                    <a:p>
                      <a:pPr>
                        <a:buNone/>
                      </a:pPr>
                      <a:r>
                        <a:rPr lang="en-US" sz="900"/>
                        <a:t>↑</a:t>
                      </a:r>
                    </a:p>
                  </a:txBody>
                  <a:tcPr marL="45996" marR="45996" marT="22998" marB="22998" anchor="ctr">
                    <a:lnL>
                      <a:noFill/>
                    </a:lnL>
                    <a:lnR>
                      <a:noFill/>
                    </a:lnR>
                    <a:lnT>
                      <a:noFill/>
                    </a:lnT>
                    <a:lnB>
                      <a:noFill/>
                    </a:lnB>
                    <a:noFill/>
                  </a:tcPr>
                </a:tc>
                <a:tc>
                  <a:txBody>
                    <a:bodyPr/>
                    <a:lstStyle/>
                    <a:p>
                      <a:pPr>
                        <a:buNone/>
                      </a:pPr>
                      <a:r>
                        <a:rPr lang="en-US" sz="900" dirty="0"/>
                        <a:t>Economic substitution effect</a:t>
                      </a:r>
                    </a:p>
                  </a:txBody>
                  <a:tcPr marL="45996" marR="45996" marT="22998" marB="22998" anchor="ctr">
                    <a:lnL>
                      <a:noFill/>
                    </a:lnL>
                    <a:lnR>
                      <a:noFill/>
                    </a:lnR>
                    <a:lnT>
                      <a:noFill/>
                    </a:lnT>
                    <a:lnB>
                      <a:noFill/>
                    </a:lnB>
                    <a:noFill/>
                  </a:tcPr>
                </a:tc>
                <a:extLst>
                  <a:ext uri="{0D108BD9-81ED-4DB2-BD59-A6C34878D82A}">
                    <a16:rowId xmlns:a16="http://schemas.microsoft.com/office/drawing/2014/main" val="3435685813"/>
                  </a:ext>
                </a:extLst>
              </a:tr>
            </a:tbl>
          </a:graphicData>
        </a:graphic>
      </p:graphicFrame>
    </p:spTree>
    <p:extLst>
      <p:ext uri="{BB962C8B-B14F-4D97-AF65-F5344CB8AC3E}">
        <p14:creationId xmlns:p14="http://schemas.microsoft.com/office/powerpoint/2010/main" val="216337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65AD6-067C-D761-DE40-39320DFAD0E8}"/>
              </a:ext>
            </a:extLst>
          </p:cNvPr>
          <p:cNvSpPr>
            <a:spLocks noGrp="1"/>
          </p:cNvSpPr>
          <p:nvPr>
            <p:ph type="title"/>
          </p:nvPr>
        </p:nvSpPr>
        <p:spPr/>
        <p:txBody>
          <a:bodyPr/>
          <a:lstStyle/>
          <a:p>
            <a:r>
              <a:rPr lang="en-US" dirty="0"/>
              <a:t>Network Matters A lot Cont.</a:t>
            </a:r>
          </a:p>
        </p:txBody>
      </p:sp>
      <p:sp>
        <p:nvSpPr>
          <p:cNvPr id="3" name="Content Placeholder 2">
            <a:extLst>
              <a:ext uri="{FF2B5EF4-FFF2-40B4-BE49-F238E27FC236}">
                <a16:creationId xmlns:a16="http://schemas.microsoft.com/office/drawing/2014/main" id="{E56D70CC-A536-F242-5933-D2E06CAD8216}"/>
              </a:ext>
            </a:extLst>
          </p:cNvPr>
          <p:cNvSpPr>
            <a:spLocks noGrp="1"/>
          </p:cNvSpPr>
          <p:nvPr>
            <p:ph idx="1"/>
          </p:nvPr>
        </p:nvSpPr>
        <p:spPr/>
        <p:txBody>
          <a:bodyPr>
            <a:normAutofit fontScale="77500" lnSpcReduction="20000"/>
          </a:bodyPr>
          <a:lstStyle/>
          <a:p>
            <a:r>
              <a:rPr lang="en-US" dirty="0"/>
              <a:t>Charger Type Impacts Demand</a:t>
            </a:r>
          </a:p>
          <a:p>
            <a:pPr lvl="1"/>
            <a:r>
              <a:rPr lang="en-US" dirty="0"/>
              <a:t>Tesla DC Fast have higher utilization</a:t>
            </a:r>
          </a:p>
          <a:p>
            <a:pPr lvl="1"/>
            <a:r>
              <a:rPr lang="en-US" dirty="0"/>
              <a:t>Level 2 shows moderate increase</a:t>
            </a:r>
          </a:p>
          <a:p>
            <a:pPr lvl="1"/>
            <a:r>
              <a:rPr lang="en-US" dirty="0"/>
              <a:t>Hyper-Fast show slightly negative relative to baseline</a:t>
            </a:r>
          </a:p>
          <a:p>
            <a:r>
              <a:rPr lang="en-US" dirty="0"/>
              <a:t>Fast charging ecosystems clearly matter</a:t>
            </a:r>
          </a:p>
          <a:p>
            <a:pPr marL="285750" indent="-285750"/>
            <a:r>
              <a:rPr lang="en-US" b="1" dirty="0"/>
              <a:t>Economic + Traffic Factors Still Important</a:t>
            </a:r>
          </a:p>
          <a:p>
            <a:pPr marL="742950" lvl="1" indent="-285750"/>
            <a:r>
              <a:rPr lang="en-US" dirty="0"/>
              <a:t>Gas prices</a:t>
            </a:r>
          </a:p>
          <a:p>
            <a:pPr marL="742950" lvl="1" indent="-285750"/>
            <a:r>
              <a:rPr lang="en-US" dirty="0"/>
              <a:t>Congestion</a:t>
            </a:r>
          </a:p>
          <a:p>
            <a:pPr marL="742950" lvl="1" indent="-285750"/>
            <a:r>
              <a:rPr lang="en-US" dirty="0"/>
              <a:t>Time-of-day</a:t>
            </a:r>
          </a:p>
          <a:p>
            <a:r>
              <a:rPr lang="en-US" dirty="0"/>
              <a:t>EV charging is heavily commute-driven.</a:t>
            </a:r>
          </a:p>
          <a:p>
            <a:endParaRPr lang="en-US" dirty="0"/>
          </a:p>
          <a:p>
            <a:endParaRPr lang="en-US" dirty="0"/>
          </a:p>
        </p:txBody>
      </p:sp>
    </p:spTree>
    <p:extLst>
      <p:ext uri="{BB962C8B-B14F-4D97-AF65-F5344CB8AC3E}">
        <p14:creationId xmlns:p14="http://schemas.microsoft.com/office/powerpoint/2010/main" val="1036221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F9613-5883-873E-0625-2058094C6521}"/>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2F5E7C1E-0849-808D-65DD-7804BFA2707D}"/>
              </a:ext>
            </a:extLst>
          </p:cNvPr>
          <p:cNvSpPr>
            <a:spLocks noGrp="1"/>
          </p:cNvSpPr>
          <p:nvPr>
            <p:ph idx="1"/>
          </p:nvPr>
        </p:nvSpPr>
        <p:spPr/>
        <p:txBody>
          <a:bodyPr/>
          <a:lstStyle/>
          <a:p>
            <a:r>
              <a:rPr lang="en-US" dirty="0"/>
              <a:t>Utilization for EV Chargers is driven primarily by network ecosystem effects, charger type, and time-of-day traffic patterns. Network brand differences explain more variation than weather or geography. Fast charging networks show significantly higher utilization.</a:t>
            </a:r>
          </a:p>
        </p:txBody>
      </p:sp>
    </p:spTree>
    <p:extLst>
      <p:ext uri="{BB962C8B-B14F-4D97-AF65-F5344CB8AC3E}">
        <p14:creationId xmlns:p14="http://schemas.microsoft.com/office/powerpoint/2010/main" val="1564165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D166E-64B2-3A5F-CDFB-8EEF5A08119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5F9128C-1A7C-AF9B-F05D-A75635AF9F44}"/>
              </a:ext>
            </a:extLst>
          </p:cNvPr>
          <p:cNvSpPr>
            <a:spLocks noGrp="1"/>
          </p:cNvSpPr>
          <p:nvPr>
            <p:ph idx="1"/>
          </p:nvPr>
        </p:nvSpPr>
        <p:spPr/>
        <p:txBody>
          <a:bodyPr>
            <a:normAutofit fontScale="85000" lnSpcReduction="20000"/>
          </a:bodyPr>
          <a:lstStyle/>
          <a:p>
            <a:r>
              <a:rPr lang="en-US" dirty="0"/>
              <a:t>Kurti, A. (2024, May 28). </a:t>
            </a:r>
            <a:r>
              <a:rPr lang="en-US" i="1" dirty="0"/>
              <a:t>History of electric charging stations: A journey through time between innovation and sustainability</a:t>
            </a:r>
            <a:r>
              <a:rPr lang="en-US" dirty="0"/>
              <a:t>. Free To X - PROD. https://</a:t>
            </a:r>
            <a:r>
              <a:rPr lang="en-US" dirty="0" err="1"/>
              <a:t>freeto-x.it</a:t>
            </a:r>
            <a:r>
              <a:rPr lang="en-US" dirty="0"/>
              <a:t>/</a:t>
            </a:r>
            <a:r>
              <a:rPr lang="en-US" dirty="0" err="1"/>
              <a:t>en</a:t>
            </a:r>
            <a:r>
              <a:rPr lang="en-US" dirty="0"/>
              <a:t>/article/history-of-electric-connectors/?</a:t>
            </a:r>
            <a:r>
              <a:rPr lang="en-US" dirty="0" err="1"/>
              <a:t>utm_source</a:t>
            </a:r>
            <a:r>
              <a:rPr lang="en-US" dirty="0"/>
              <a:t>=</a:t>
            </a:r>
            <a:r>
              <a:rPr lang="en-US" dirty="0" err="1"/>
              <a:t>chatgpt.com</a:t>
            </a:r>
            <a:r>
              <a:rPr lang="en-US" dirty="0"/>
              <a:t> </a:t>
            </a:r>
          </a:p>
          <a:p>
            <a:r>
              <a:rPr lang="en-US" dirty="0"/>
              <a:t>Rodolfo. (2023, September 30). </a:t>
            </a:r>
            <a:r>
              <a:rPr lang="en-US" i="1" dirty="0"/>
              <a:t>The history of EV charging infrastructure - EZ EV Electric</a:t>
            </a:r>
            <a:r>
              <a:rPr lang="en-US" dirty="0"/>
              <a:t>. EZ EV Electric - EZ EV Electric Helping You Install And Launch Smart Electric Vehicle Charging Stations. https://</a:t>
            </a:r>
            <a:r>
              <a:rPr lang="en-US" dirty="0" err="1"/>
              <a:t>www.ezevelectric.com</a:t>
            </a:r>
            <a:r>
              <a:rPr lang="en-US" dirty="0"/>
              <a:t>/the-history-of-</a:t>
            </a:r>
            <a:r>
              <a:rPr lang="en-US" dirty="0" err="1"/>
              <a:t>ev</a:t>
            </a:r>
            <a:r>
              <a:rPr lang="en-US" dirty="0"/>
              <a:t>-charging-infrastructure/</a:t>
            </a:r>
          </a:p>
          <a:p>
            <a:r>
              <a:rPr lang="en-US" dirty="0"/>
              <a:t>Wikimedia Foundation. (2026a, January 17). </a:t>
            </a:r>
            <a:r>
              <a:rPr lang="en-US" i="1" dirty="0" err="1"/>
              <a:t>Chargepoint</a:t>
            </a:r>
            <a:r>
              <a:rPr lang="en-US" dirty="0"/>
              <a:t>. Wikipedia. https://</a:t>
            </a:r>
            <a:r>
              <a:rPr lang="en-US" dirty="0" err="1"/>
              <a:t>en.wikipedia.org</a:t>
            </a:r>
            <a:r>
              <a:rPr lang="en-US" dirty="0"/>
              <a:t>/wiki/</a:t>
            </a:r>
            <a:r>
              <a:rPr lang="en-US" dirty="0" err="1"/>
              <a:t>ChargePoint?utm_source</a:t>
            </a:r>
            <a:r>
              <a:rPr lang="en-US" dirty="0"/>
              <a:t>=</a:t>
            </a:r>
            <a:r>
              <a:rPr lang="en-US" dirty="0" err="1"/>
              <a:t>chatgpt.com</a:t>
            </a:r>
            <a:r>
              <a:rPr lang="en-US" dirty="0"/>
              <a:t> </a:t>
            </a:r>
          </a:p>
          <a:p>
            <a:r>
              <a:rPr lang="en-US" dirty="0"/>
              <a:t>Wikimedia Foundation. (2026, January 28). </a:t>
            </a:r>
            <a:r>
              <a:rPr lang="en-US" i="1" dirty="0"/>
              <a:t>SAE J1772</a:t>
            </a:r>
            <a:r>
              <a:rPr lang="en-US" dirty="0"/>
              <a:t>. Wikipedia. https://</a:t>
            </a:r>
            <a:r>
              <a:rPr lang="en-US" dirty="0" err="1"/>
              <a:t>en.wikipedia.org</a:t>
            </a:r>
            <a:r>
              <a:rPr lang="en-US" dirty="0"/>
              <a:t>/wiki/SAE_J1772?utm_source=</a:t>
            </a:r>
            <a:r>
              <a:rPr lang="en-US" dirty="0" err="1"/>
              <a:t>chatgpt.com</a:t>
            </a:r>
            <a:r>
              <a:rPr lang="en-US" dirty="0"/>
              <a:t> </a:t>
            </a:r>
          </a:p>
          <a:p>
            <a:endParaRPr lang="en-US" dirty="0"/>
          </a:p>
        </p:txBody>
      </p:sp>
    </p:spTree>
    <p:extLst>
      <p:ext uri="{BB962C8B-B14F-4D97-AF65-F5344CB8AC3E}">
        <p14:creationId xmlns:p14="http://schemas.microsoft.com/office/powerpoint/2010/main" val="27251330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2716</TotalTime>
  <Words>1429</Words>
  <Application>Microsoft Macintosh PowerPoint</Application>
  <PresentationFormat>Widescreen</PresentationFormat>
  <Paragraphs>133</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Tw Cen MT</vt:lpstr>
      <vt:lpstr>Circuit</vt:lpstr>
      <vt:lpstr>EV Charging Station Analysis  </vt:lpstr>
      <vt:lpstr>Business Problem</vt:lpstr>
      <vt:lpstr>Background</vt:lpstr>
      <vt:lpstr>Data Explanation</vt:lpstr>
      <vt:lpstr>Methods of Analysis</vt:lpstr>
      <vt:lpstr>Charger Type Distribution</vt:lpstr>
      <vt:lpstr>Charger type Distribution</vt:lpstr>
      <vt:lpstr>Weather Condition Distribution</vt:lpstr>
      <vt:lpstr>Correlation Analysis</vt:lpstr>
      <vt:lpstr>What Drives Utilization?</vt:lpstr>
      <vt:lpstr>Correlation Analysis Cont.</vt:lpstr>
      <vt:lpstr>Network Matters A lot</vt:lpstr>
      <vt:lpstr>Network Matters A lot Cont.</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Hector Pena</dc:creator>
  <cp:lastModifiedBy>Hector Pena</cp:lastModifiedBy>
  <cp:revision>4</cp:revision>
  <dcterms:created xsi:type="dcterms:W3CDTF">2026-02-17T04:32:22Z</dcterms:created>
  <dcterms:modified xsi:type="dcterms:W3CDTF">2026-02-19T01:48:25Z</dcterms:modified>
</cp:coreProperties>
</file>