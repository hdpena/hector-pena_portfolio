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75753"/>
  </p:normalViewPr>
  <p:slideViewPr>
    <p:cSldViewPr snapToGrid="0">
      <p:cViewPr varScale="1">
        <p:scale>
          <a:sx n="81" d="100"/>
          <a:sy n="81" d="100"/>
        </p:scale>
        <p:origin x="1944"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5E517-B55F-EE4A-82F1-10F558C96CB7}" type="datetimeFigureOut">
              <a:rPr lang="en-US" smtClean="0"/>
              <a:t>3/7/26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1351B2-C832-0E4F-AE78-612A30DEAFA4}" type="slidenum">
              <a:rPr lang="en-US" smtClean="0"/>
              <a:t>‹#›</a:t>
            </a:fld>
            <a:endParaRPr lang="en-US"/>
          </a:p>
        </p:txBody>
      </p:sp>
    </p:spTree>
    <p:extLst>
      <p:ext uri="{BB962C8B-B14F-4D97-AF65-F5344CB8AC3E}">
        <p14:creationId xmlns:p14="http://schemas.microsoft.com/office/powerpoint/2010/main" val="997726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the early 1900’s the leading cause of death was infectious diseases such as tuberculosis and influenza. </a:t>
            </a:r>
          </a:p>
          <a:p>
            <a:r>
              <a:rPr lang="en-US" sz="1200" kern="1200" dirty="0">
                <a:solidFill>
                  <a:schemeClr val="tx1"/>
                </a:solidFill>
                <a:effectLst/>
                <a:latin typeface="+mn-lt"/>
                <a:ea typeface="+mn-ea"/>
                <a:cs typeface="+mn-cs"/>
              </a:rPr>
              <a:t>As vaccines and antibiotics improved individuals lives longer which revealed more chronic illnesses like heart disease. </a:t>
            </a:r>
          </a:p>
          <a:p>
            <a:r>
              <a:rPr lang="en-US" sz="1200" kern="1200" dirty="0">
                <a:solidFill>
                  <a:schemeClr val="tx1"/>
                </a:solidFill>
                <a:effectLst/>
                <a:latin typeface="+mn-lt"/>
                <a:ea typeface="+mn-ea"/>
                <a:cs typeface="+mn-cs"/>
              </a:rPr>
              <a:t>Between the 1920’s and 1930’s heart disease began to rise rapidly, but doctors had limited tools for diagnosis.</a:t>
            </a:r>
          </a:p>
          <a:p>
            <a:r>
              <a:rPr lang="en-US" sz="1200" kern="1200" dirty="0">
                <a:solidFill>
                  <a:schemeClr val="tx1"/>
                </a:solidFill>
                <a:effectLst/>
                <a:latin typeface="+mn-lt"/>
                <a:ea typeface="+mn-ea"/>
                <a:cs typeface="+mn-cs"/>
              </a:rPr>
              <a:t>From the 1940’s and 1960’s this is seen as a turning point as studies like the Framingham Heart Study.</a:t>
            </a:r>
          </a:p>
          <a:p>
            <a:r>
              <a:rPr lang="en-US" sz="1200" kern="1200" dirty="0">
                <a:solidFill>
                  <a:schemeClr val="tx1"/>
                </a:solidFill>
                <a:effectLst/>
                <a:latin typeface="+mn-lt"/>
                <a:ea typeface="+mn-ea"/>
                <a:cs typeface="+mn-cs"/>
              </a:rPr>
              <a:t>This study followed thousands of residents for decades to identify risk factors for cardiovascular disease. </a:t>
            </a:r>
          </a:p>
          <a:p>
            <a:r>
              <a:rPr lang="en-US" sz="1200" kern="1200" dirty="0">
                <a:solidFill>
                  <a:schemeClr val="tx1"/>
                </a:solidFill>
                <a:effectLst/>
                <a:latin typeface="+mn-lt"/>
                <a:ea typeface="+mn-ea"/>
                <a:cs typeface="+mn-cs"/>
              </a:rPr>
              <a:t>Between the 1960’s and 1980’s the United States government and organizations like the American Heart Association launched educational campaigns.</a:t>
            </a:r>
          </a:p>
          <a:p>
            <a:r>
              <a:rPr lang="en-US" sz="1200" kern="1200" dirty="0">
                <a:solidFill>
                  <a:schemeClr val="tx1"/>
                </a:solidFill>
                <a:effectLst/>
                <a:latin typeface="+mn-lt"/>
                <a:ea typeface="+mn-ea"/>
                <a:cs typeface="+mn-cs"/>
              </a:rPr>
              <a:t>These campaigns provided warnings about smoking and heart disease becoming widespread. </a:t>
            </a:r>
          </a:p>
          <a:p>
            <a:r>
              <a:rPr lang="en-US" sz="1200" kern="1200" dirty="0">
                <a:solidFill>
                  <a:schemeClr val="tx1"/>
                </a:solidFill>
                <a:effectLst/>
                <a:latin typeface="+mn-lt"/>
                <a:ea typeface="+mn-ea"/>
                <a:cs typeface="+mn-cs"/>
              </a:rPr>
              <a:t>Guidelines for nutrition were encouraged, these guidelines helped lower saturated fats, lower cholesterol, and encouraged more fruits and vegetables intake. </a:t>
            </a:r>
          </a:p>
          <a:p>
            <a:r>
              <a:rPr lang="en-US" sz="1200" kern="1200" dirty="0">
                <a:solidFill>
                  <a:schemeClr val="tx1"/>
                </a:solidFill>
                <a:effectLst/>
                <a:latin typeface="+mn-lt"/>
                <a:ea typeface="+mn-ea"/>
                <a:cs typeface="+mn-cs"/>
              </a:rPr>
              <a:t>Medical Advances were seen to improve between this era shifting into the 1990’s and 2000’s the advancements in medical technology have allowed for bypass surgery, intensive care units, as well as early heart transplants.</a:t>
            </a:r>
          </a:p>
          <a:p>
            <a:endParaRPr lang="en-US" dirty="0"/>
          </a:p>
        </p:txBody>
      </p:sp>
      <p:sp>
        <p:nvSpPr>
          <p:cNvPr id="4" name="Slide Number Placeholder 3"/>
          <p:cNvSpPr>
            <a:spLocks noGrp="1"/>
          </p:cNvSpPr>
          <p:nvPr>
            <p:ph type="sldNum" sz="quarter" idx="5"/>
          </p:nvPr>
        </p:nvSpPr>
        <p:spPr/>
        <p:txBody>
          <a:bodyPr/>
          <a:lstStyle/>
          <a:p>
            <a:fld id="{CC1351B2-C832-0E4F-AE78-612A30DEAFA4}" type="slidenum">
              <a:rPr lang="en-US" smtClean="0"/>
              <a:t>3</a:t>
            </a:fld>
            <a:endParaRPr lang="en-US"/>
          </a:p>
        </p:txBody>
      </p:sp>
    </p:spTree>
    <p:extLst>
      <p:ext uri="{BB962C8B-B14F-4D97-AF65-F5344CB8AC3E}">
        <p14:creationId xmlns:p14="http://schemas.microsoft.com/office/powerpoint/2010/main" val="2273498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1351B2-C832-0E4F-AE78-612A30DEAFA4}" type="slidenum">
              <a:rPr lang="en-US" smtClean="0"/>
              <a:t>8</a:t>
            </a:fld>
            <a:endParaRPr lang="en-US"/>
          </a:p>
        </p:txBody>
      </p:sp>
    </p:spTree>
    <p:extLst>
      <p:ext uri="{BB962C8B-B14F-4D97-AF65-F5344CB8AC3E}">
        <p14:creationId xmlns:p14="http://schemas.microsoft.com/office/powerpoint/2010/main" val="2664867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1351B2-C832-0E4F-AE78-612A30DEAFA4}" type="slidenum">
              <a:rPr lang="en-US" smtClean="0"/>
              <a:t>10</a:t>
            </a:fld>
            <a:endParaRPr lang="en-US"/>
          </a:p>
        </p:txBody>
      </p:sp>
    </p:spTree>
    <p:extLst>
      <p:ext uri="{BB962C8B-B14F-4D97-AF65-F5344CB8AC3E}">
        <p14:creationId xmlns:p14="http://schemas.microsoft.com/office/powerpoint/2010/main" val="4158019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3/7/26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3/7/26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3/7/26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3/7/26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3/7/26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3/7/26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3/7/26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3/7/26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3/7/26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3/7/26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3/7/26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3/7/26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4.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4.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60142-0615-C894-E94C-BB2B4C48B1CF}"/>
              </a:ext>
            </a:extLst>
          </p:cNvPr>
          <p:cNvSpPr>
            <a:spLocks noGrp="1"/>
          </p:cNvSpPr>
          <p:nvPr>
            <p:ph type="ctrTitle"/>
          </p:nvPr>
        </p:nvSpPr>
        <p:spPr>
          <a:xfrm>
            <a:off x="2611808" y="3958388"/>
            <a:ext cx="5518066" cy="2268559"/>
          </a:xfrm>
        </p:spPr>
        <p:txBody>
          <a:bodyPr>
            <a:noAutofit/>
          </a:bodyPr>
          <a:lstStyle/>
          <a:p>
            <a:r>
              <a:rPr lang="en-US" sz="2000" dirty="0"/>
              <a:t>Hector Pena</a:t>
            </a:r>
            <a:br>
              <a:rPr lang="en-US" sz="2000" dirty="0"/>
            </a:br>
            <a:r>
              <a:rPr lang="en-US" sz="2000" dirty="0"/>
              <a:t>DSC 680</a:t>
            </a:r>
            <a:br>
              <a:rPr lang="en-US" sz="2000" dirty="0"/>
            </a:br>
            <a:r>
              <a:rPr lang="en-US" sz="2000" dirty="0"/>
              <a:t>Bellevue University</a:t>
            </a:r>
          </a:p>
        </p:txBody>
      </p:sp>
      <p:sp>
        <p:nvSpPr>
          <p:cNvPr id="3" name="Subtitle 2">
            <a:extLst>
              <a:ext uri="{FF2B5EF4-FFF2-40B4-BE49-F238E27FC236}">
                <a16:creationId xmlns:a16="http://schemas.microsoft.com/office/drawing/2014/main" id="{F3FFCED7-B830-708B-6D54-021EEDB9EBF7}"/>
              </a:ext>
            </a:extLst>
          </p:cNvPr>
          <p:cNvSpPr>
            <a:spLocks noGrp="1"/>
          </p:cNvSpPr>
          <p:nvPr>
            <p:ph type="subTitle" idx="1"/>
          </p:nvPr>
        </p:nvSpPr>
        <p:spPr>
          <a:xfrm>
            <a:off x="2334126" y="2268787"/>
            <a:ext cx="5795748" cy="1160212"/>
          </a:xfrm>
        </p:spPr>
        <p:txBody>
          <a:bodyPr>
            <a:normAutofit fontScale="92500" lnSpcReduction="10000"/>
          </a:bodyPr>
          <a:lstStyle/>
          <a:p>
            <a:r>
              <a:rPr lang="en-US" sz="3600" dirty="0"/>
              <a:t>Cardiovascular Health Analysis</a:t>
            </a:r>
          </a:p>
        </p:txBody>
      </p:sp>
      <p:pic>
        <p:nvPicPr>
          <p:cNvPr id="6" name="Audio 5">
            <a:extLst>
              <a:ext uri="{FF2B5EF4-FFF2-40B4-BE49-F238E27FC236}">
                <a16:creationId xmlns:a16="http://schemas.microsoft.com/office/drawing/2014/main" id="{B123E917-536C-8FB5-4570-C18D3DE46690}"/>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790169805"/>
      </p:ext>
    </p:extLst>
  </p:cSld>
  <p:clrMapOvr>
    <a:masterClrMapping/>
  </p:clrMapOvr>
  <mc:AlternateContent xmlns:mc="http://schemas.openxmlformats.org/markup-compatibility/2006">
    <mc:Choice xmlns:p14="http://schemas.microsoft.com/office/powerpoint/2010/main" Requires="p14">
      <p:transition spd="slow" p14:dur="2000" advTm="8220"/>
    </mc:Choice>
    <mc:Fallback>
      <p:transition spd="slow" advTm="8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BA54B-A389-A64C-5ED6-6093E5A9D4C3}"/>
              </a:ext>
            </a:extLst>
          </p:cNvPr>
          <p:cNvSpPr>
            <a:spLocks noGrp="1"/>
          </p:cNvSpPr>
          <p:nvPr>
            <p:ph type="title"/>
          </p:nvPr>
        </p:nvSpPr>
        <p:spPr/>
        <p:txBody>
          <a:bodyPr/>
          <a:lstStyle/>
          <a:p>
            <a:r>
              <a:rPr lang="en-US" dirty="0"/>
              <a:t>Business Problem</a:t>
            </a:r>
          </a:p>
        </p:txBody>
      </p:sp>
      <p:sp>
        <p:nvSpPr>
          <p:cNvPr id="3" name="Content Placeholder 2">
            <a:extLst>
              <a:ext uri="{FF2B5EF4-FFF2-40B4-BE49-F238E27FC236}">
                <a16:creationId xmlns:a16="http://schemas.microsoft.com/office/drawing/2014/main" id="{692F944A-D1C3-1324-9DE0-F11C3D7E2B48}"/>
              </a:ext>
            </a:extLst>
          </p:cNvPr>
          <p:cNvSpPr>
            <a:spLocks noGrp="1"/>
          </p:cNvSpPr>
          <p:nvPr>
            <p:ph idx="1"/>
          </p:nvPr>
        </p:nvSpPr>
        <p:spPr/>
        <p:txBody>
          <a:bodyPr/>
          <a:lstStyle/>
          <a:p>
            <a:r>
              <a:rPr lang="en-US" dirty="0"/>
              <a:t>With the rising health concerns in the United States, this project will take a deep dive into how certain individuals meeting certain body criteria may or may not have a higher risk for heart disease and or a heart attack. This data can then be used to educate individuals to change their lifestyle to live and longer and healthier life. </a:t>
            </a:r>
          </a:p>
        </p:txBody>
      </p:sp>
      <p:pic>
        <p:nvPicPr>
          <p:cNvPr id="7" name="Audio 6">
            <a:extLst>
              <a:ext uri="{FF2B5EF4-FFF2-40B4-BE49-F238E27FC236}">
                <a16:creationId xmlns:a16="http://schemas.microsoft.com/office/drawing/2014/main" id="{24B94778-9084-4E35-B127-610E7EDBB224}"/>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502928785"/>
      </p:ext>
    </p:extLst>
  </p:cSld>
  <p:clrMapOvr>
    <a:masterClrMapping/>
  </p:clrMapOvr>
  <mc:AlternateContent xmlns:mc="http://schemas.openxmlformats.org/markup-compatibility/2006">
    <mc:Choice xmlns:p14="http://schemas.microsoft.com/office/powerpoint/2010/main" Requires="p14">
      <p:transition spd="slow" p14:dur="2000" advTm="25160"/>
    </mc:Choice>
    <mc:Fallback>
      <p:transition spd="slow" advTm="251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D03D9-9CA4-2971-D270-1AFC539AD61F}"/>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A9F74F21-1251-E901-E8CD-C13E420515F4}"/>
              </a:ext>
            </a:extLst>
          </p:cNvPr>
          <p:cNvSpPr>
            <a:spLocks noGrp="1"/>
          </p:cNvSpPr>
          <p:nvPr>
            <p:ph idx="1"/>
          </p:nvPr>
        </p:nvSpPr>
        <p:spPr/>
        <p:txBody>
          <a:bodyPr/>
          <a:lstStyle/>
          <a:p>
            <a:r>
              <a:rPr lang="en-US" dirty="0"/>
              <a:t>Heart health in the United States has evolved dramatically over the last century, the timeline includes major shifts in disease patterns, scientific discoveries, lifestyle changes, and medical technology. Today heart disease is still the leading cause of death in the U.S., but death rates have dropped significantly since the mid-20th century due to research and prevention efforts </a:t>
            </a:r>
          </a:p>
        </p:txBody>
      </p:sp>
      <p:pic>
        <p:nvPicPr>
          <p:cNvPr id="10" name="Audio 9">
            <a:extLst>
              <a:ext uri="{FF2B5EF4-FFF2-40B4-BE49-F238E27FC236}">
                <a16:creationId xmlns:a16="http://schemas.microsoft.com/office/drawing/2014/main" id="{A71C5E00-4D9D-FD1D-3D32-454CC3BFC2A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029985995"/>
      </p:ext>
    </p:extLst>
  </p:cSld>
  <p:clrMapOvr>
    <a:masterClrMapping/>
  </p:clrMapOvr>
  <mc:AlternateContent xmlns:mc="http://schemas.openxmlformats.org/markup-compatibility/2006">
    <mc:Choice xmlns:p14="http://schemas.microsoft.com/office/powerpoint/2010/main" Requires="p14">
      <p:transition spd="slow" p14:dur="2000" advTm="107820"/>
    </mc:Choice>
    <mc:Fallback>
      <p:transition spd="slow" advTm="107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DDC8F-8D07-E7E0-40EC-22A2F7BD39B4}"/>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9D5E45A9-1913-C4ED-AB2E-202257D9B434}"/>
              </a:ext>
            </a:extLst>
          </p:cNvPr>
          <p:cNvSpPr>
            <a:spLocks noGrp="1"/>
          </p:cNvSpPr>
          <p:nvPr>
            <p:ph idx="1"/>
          </p:nvPr>
        </p:nvSpPr>
        <p:spPr/>
        <p:txBody>
          <a:bodyPr>
            <a:normAutofit/>
          </a:bodyPr>
          <a:lstStyle/>
          <a:p>
            <a:r>
              <a:rPr lang="en-US" dirty="0"/>
              <a:t>The data for this project has been collected from Kaggle.</a:t>
            </a:r>
          </a:p>
          <a:p>
            <a:r>
              <a:rPr lang="en-US" dirty="0"/>
              <a:t>This dataset has 17 different metrics; such as Patient ID, age, BMI, daily steps, etc. </a:t>
            </a:r>
          </a:p>
          <a:p>
            <a:r>
              <a:rPr lang="en-US" dirty="0"/>
              <a:t>With these types of metrics, we can show the public what warning signs to look for to avoid or to help reduce cardiovascular disease. </a:t>
            </a:r>
          </a:p>
        </p:txBody>
      </p:sp>
      <p:pic>
        <p:nvPicPr>
          <p:cNvPr id="6" name="Audio 5">
            <a:extLst>
              <a:ext uri="{FF2B5EF4-FFF2-40B4-BE49-F238E27FC236}">
                <a16:creationId xmlns:a16="http://schemas.microsoft.com/office/drawing/2014/main" id="{ACBD5681-44A3-C112-45A6-3CE5FD988CE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059417533"/>
      </p:ext>
    </p:extLst>
  </p:cSld>
  <p:clrMapOvr>
    <a:masterClrMapping/>
  </p:clrMapOvr>
  <mc:AlternateContent xmlns:mc="http://schemas.openxmlformats.org/markup-compatibility/2006">
    <mc:Choice xmlns:p14="http://schemas.microsoft.com/office/powerpoint/2010/main" Requires="p14">
      <p:transition spd="slow" p14:dur="2000" advTm="25740"/>
    </mc:Choice>
    <mc:Fallback>
      <p:transition spd="slow" advTm="25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par>
                          <p:cTn id="7" fill="hold">
                            <p:stCondLst>
                              <p:cond delay="0"/>
                            </p:stCondLst>
                            <p:childTnLst>
                              <p:par>
                                <p:cTn id="8" presetID="1" presetClass="mediacall" presetSubtype="0" fill="hold" nodeType="afterEffect">
                                  <p:stCondLst>
                                    <p:cond delay="0"/>
                                  </p:stCondLst>
                                  <p:childTnLst>
                                    <p:cmd type="call" cmd="playFrom(0.0)">
                                      <p:cBhvr>
                                        <p:cTn id="9"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D0B8D-B80A-4EFF-C0D2-31B179E73AA0}"/>
              </a:ext>
            </a:extLst>
          </p:cNvPr>
          <p:cNvSpPr>
            <a:spLocks noGrp="1"/>
          </p:cNvSpPr>
          <p:nvPr>
            <p:ph type="title"/>
          </p:nvPr>
        </p:nvSpPr>
        <p:spPr/>
        <p:txBody>
          <a:bodyPr/>
          <a:lstStyle/>
          <a:p>
            <a:r>
              <a:rPr lang="en-US" dirty="0"/>
              <a:t>Methods</a:t>
            </a:r>
          </a:p>
        </p:txBody>
      </p:sp>
      <p:sp>
        <p:nvSpPr>
          <p:cNvPr id="3" name="Content Placeholder 2">
            <a:extLst>
              <a:ext uri="{FF2B5EF4-FFF2-40B4-BE49-F238E27FC236}">
                <a16:creationId xmlns:a16="http://schemas.microsoft.com/office/drawing/2014/main" id="{B54F3BB8-29F0-93A9-096A-3294C51228AC}"/>
              </a:ext>
            </a:extLst>
          </p:cNvPr>
          <p:cNvSpPr>
            <a:spLocks noGrp="1"/>
          </p:cNvSpPr>
          <p:nvPr>
            <p:ph idx="1"/>
          </p:nvPr>
        </p:nvSpPr>
        <p:spPr/>
        <p:txBody>
          <a:bodyPr>
            <a:normAutofit lnSpcReduction="10000"/>
          </a:bodyPr>
          <a:lstStyle/>
          <a:p>
            <a:r>
              <a:rPr lang="en-US" dirty="0"/>
              <a:t>To get the most of our data we must perform basic EDA to remove any irregularities in our data as well as fill any null values that may be in place. We will also filter our data to segment it by columns so we can get a closer look at certain metrics.</a:t>
            </a:r>
          </a:p>
          <a:p>
            <a:r>
              <a:rPr lang="en-US" dirty="0"/>
              <a:t>With the metrics in this dataset, we can run a heart disease risk prediction model to help individuals and doctors predict and classify if they are at risk, low risk, or no risk for heart disease. </a:t>
            </a:r>
          </a:p>
          <a:p>
            <a:r>
              <a:rPr lang="en-US" dirty="0"/>
              <a:t>We can also run a feature importance analysis to highlight which metrics are the most important to keep a good heart health. </a:t>
            </a:r>
          </a:p>
        </p:txBody>
      </p:sp>
      <p:pic>
        <p:nvPicPr>
          <p:cNvPr id="8" name="Audio 7">
            <a:extLst>
              <a:ext uri="{FF2B5EF4-FFF2-40B4-BE49-F238E27FC236}">
                <a16:creationId xmlns:a16="http://schemas.microsoft.com/office/drawing/2014/main" id="{A4E34207-050A-25D6-F7F1-F8D90196852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935171499"/>
      </p:ext>
    </p:extLst>
  </p:cSld>
  <p:clrMapOvr>
    <a:masterClrMapping/>
  </p:clrMapOvr>
  <mc:AlternateContent xmlns:mc="http://schemas.openxmlformats.org/markup-compatibility/2006">
    <mc:Choice xmlns:p14="http://schemas.microsoft.com/office/powerpoint/2010/main" Requires="p14">
      <p:transition spd="slow" p14:dur="2000" advTm="43900"/>
    </mc:Choice>
    <mc:Fallback>
      <p:transition spd="slow" advTm="43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3D57B-C189-C255-E565-AD125CD6AAEE}"/>
              </a:ext>
            </a:extLst>
          </p:cNvPr>
          <p:cNvSpPr>
            <a:spLocks noGrp="1"/>
          </p:cNvSpPr>
          <p:nvPr>
            <p:ph type="title"/>
          </p:nvPr>
        </p:nvSpPr>
        <p:spPr>
          <a:xfrm>
            <a:off x="2611807" y="376469"/>
            <a:ext cx="7958331" cy="1077229"/>
          </a:xfrm>
        </p:spPr>
        <p:txBody>
          <a:bodyPr/>
          <a:lstStyle/>
          <a:p>
            <a:r>
              <a:rPr lang="en-US" dirty="0"/>
              <a:t>Analysis</a:t>
            </a:r>
          </a:p>
        </p:txBody>
      </p:sp>
      <p:sp>
        <p:nvSpPr>
          <p:cNvPr id="3" name="Content Placeholder 2">
            <a:extLst>
              <a:ext uri="{FF2B5EF4-FFF2-40B4-BE49-F238E27FC236}">
                <a16:creationId xmlns:a16="http://schemas.microsoft.com/office/drawing/2014/main" id="{5BFAD43B-01CB-3FC4-C230-340026B3FA09}"/>
              </a:ext>
            </a:extLst>
          </p:cNvPr>
          <p:cNvSpPr>
            <a:spLocks noGrp="1"/>
          </p:cNvSpPr>
          <p:nvPr>
            <p:ph idx="1"/>
          </p:nvPr>
        </p:nvSpPr>
        <p:spPr>
          <a:xfrm>
            <a:off x="1369613" y="321168"/>
            <a:ext cx="7796540" cy="3997828"/>
          </a:xfrm>
        </p:spPr>
        <p:txBody>
          <a:bodyPr/>
          <a:lstStyle/>
          <a:p>
            <a:r>
              <a:rPr lang="en-US" dirty="0"/>
              <a:t>After running EDA we can see the distribution of our data, we can see an even spread of ages amongst patients, while slight peaks at the ages 20, 30, 40, 50, etc.</a:t>
            </a:r>
          </a:p>
        </p:txBody>
      </p:sp>
      <p:pic>
        <p:nvPicPr>
          <p:cNvPr id="4" name="Picture 3" descr="A graph showing the age distribution of patients&#10;&#10;AI-generated content may be incorrect.">
            <a:extLst>
              <a:ext uri="{FF2B5EF4-FFF2-40B4-BE49-F238E27FC236}">
                <a16:creationId xmlns:a16="http://schemas.microsoft.com/office/drawing/2014/main" id="{A36EE81F-82C2-B5EC-05E8-20AFB7F734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27339" y="3148187"/>
            <a:ext cx="5636850" cy="3333344"/>
          </a:xfrm>
          <a:prstGeom prst="rect">
            <a:avLst/>
          </a:prstGeom>
        </p:spPr>
      </p:pic>
      <p:pic>
        <p:nvPicPr>
          <p:cNvPr id="8" name="Audio 7">
            <a:extLst>
              <a:ext uri="{FF2B5EF4-FFF2-40B4-BE49-F238E27FC236}">
                <a16:creationId xmlns:a16="http://schemas.microsoft.com/office/drawing/2014/main" id="{444EA71F-5008-B37A-9C6F-5B432A3EB18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415501071"/>
      </p:ext>
    </p:extLst>
  </p:cSld>
  <p:clrMapOvr>
    <a:masterClrMapping/>
  </p:clrMapOvr>
  <mc:AlternateContent xmlns:mc="http://schemas.openxmlformats.org/markup-compatibility/2006">
    <mc:Choice xmlns:p14="http://schemas.microsoft.com/office/powerpoint/2010/main" Requires="p14">
      <p:transition spd="slow" p14:dur="2000" advTm="13680"/>
    </mc:Choice>
    <mc:Fallback>
      <p:transition spd="slow" advTm="136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8537E-694C-B3C4-CBBF-5BF22EAA6EE2}"/>
              </a:ext>
            </a:extLst>
          </p:cNvPr>
          <p:cNvSpPr>
            <a:spLocks noGrp="1"/>
          </p:cNvSpPr>
          <p:nvPr>
            <p:ph type="title"/>
          </p:nvPr>
        </p:nvSpPr>
        <p:spPr>
          <a:xfrm>
            <a:off x="2596042" y="145905"/>
            <a:ext cx="7958331" cy="1077229"/>
          </a:xfrm>
        </p:spPr>
        <p:txBody>
          <a:bodyPr/>
          <a:lstStyle/>
          <a:p>
            <a:r>
              <a:rPr lang="en-US" dirty="0"/>
              <a:t>BMI Distribution</a:t>
            </a:r>
          </a:p>
        </p:txBody>
      </p:sp>
      <p:sp>
        <p:nvSpPr>
          <p:cNvPr id="3" name="Content Placeholder 2">
            <a:extLst>
              <a:ext uri="{FF2B5EF4-FFF2-40B4-BE49-F238E27FC236}">
                <a16:creationId xmlns:a16="http://schemas.microsoft.com/office/drawing/2014/main" id="{D84469D5-CDB3-4C97-1EED-7D009A8D4B22}"/>
              </a:ext>
            </a:extLst>
          </p:cNvPr>
          <p:cNvSpPr>
            <a:spLocks noGrp="1"/>
          </p:cNvSpPr>
          <p:nvPr>
            <p:ph idx="1"/>
          </p:nvPr>
        </p:nvSpPr>
        <p:spPr>
          <a:xfrm>
            <a:off x="976330" y="367789"/>
            <a:ext cx="7796540" cy="3997828"/>
          </a:xfrm>
        </p:spPr>
        <p:txBody>
          <a:bodyPr/>
          <a:lstStyle/>
          <a:p>
            <a:r>
              <a:rPr lang="en-US" dirty="0"/>
              <a:t>Distribution of Body Mass Index (BMI) of patients, this index measures the amount of body fat based on height and weight that applies to adult men and women. In this distribution we can see a normal curve with majority of patients landing between 25 and 33 on the BMI scale.</a:t>
            </a:r>
          </a:p>
          <a:p>
            <a:endParaRPr lang="en-US" dirty="0"/>
          </a:p>
        </p:txBody>
      </p:sp>
      <p:pic>
        <p:nvPicPr>
          <p:cNvPr id="4" name="Picture 3" descr="A diagram of a weight loss&#10;&#10;AI-generated content may be incorrect.">
            <a:extLst>
              <a:ext uri="{FF2B5EF4-FFF2-40B4-BE49-F238E27FC236}">
                <a16:creationId xmlns:a16="http://schemas.microsoft.com/office/drawing/2014/main" id="{AC62A571-FBB9-E0DF-3695-E920BB7DF08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03931" y="3151499"/>
            <a:ext cx="5650442" cy="3338712"/>
          </a:xfrm>
          <a:prstGeom prst="rect">
            <a:avLst/>
          </a:prstGeom>
        </p:spPr>
      </p:pic>
      <p:pic>
        <p:nvPicPr>
          <p:cNvPr id="7" name="Audio 6">
            <a:extLst>
              <a:ext uri="{FF2B5EF4-FFF2-40B4-BE49-F238E27FC236}">
                <a16:creationId xmlns:a16="http://schemas.microsoft.com/office/drawing/2014/main" id="{D2C08CC4-E845-F97B-C097-B2C4938B722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179227621"/>
      </p:ext>
    </p:extLst>
  </p:cSld>
  <p:clrMapOvr>
    <a:masterClrMapping/>
  </p:clrMapOvr>
  <mc:AlternateContent xmlns:mc="http://schemas.openxmlformats.org/markup-compatibility/2006">
    <mc:Choice xmlns:p14="http://schemas.microsoft.com/office/powerpoint/2010/main" Requires="p14">
      <p:transition spd="slow" p14:dur="2000" advTm="25380"/>
    </mc:Choice>
    <mc:Fallback>
      <p:transition spd="slow" advTm="25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59B28-F8B2-0056-F33E-BEBBEDBBA8E1}"/>
              </a:ext>
            </a:extLst>
          </p:cNvPr>
          <p:cNvSpPr>
            <a:spLocks noGrp="1"/>
          </p:cNvSpPr>
          <p:nvPr>
            <p:ph type="title"/>
          </p:nvPr>
        </p:nvSpPr>
        <p:spPr>
          <a:xfrm>
            <a:off x="2659104" y="380971"/>
            <a:ext cx="7958331" cy="1077229"/>
          </a:xfrm>
        </p:spPr>
        <p:txBody>
          <a:bodyPr/>
          <a:lstStyle/>
          <a:p>
            <a:r>
              <a:rPr lang="en-US" dirty="0"/>
              <a:t>Family History of Heart Disease</a:t>
            </a:r>
          </a:p>
        </p:txBody>
      </p:sp>
      <p:sp>
        <p:nvSpPr>
          <p:cNvPr id="3" name="Content Placeholder 2">
            <a:extLst>
              <a:ext uri="{FF2B5EF4-FFF2-40B4-BE49-F238E27FC236}">
                <a16:creationId xmlns:a16="http://schemas.microsoft.com/office/drawing/2014/main" id="{D6180388-CF9D-43DF-0071-E6F7F866A6DA}"/>
              </a:ext>
            </a:extLst>
          </p:cNvPr>
          <p:cNvSpPr>
            <a:spLocks noGrp="1"/>
          </p:cNvSpPr>
          <p:nvPr>
            <p:ph idx="1"/>
          </p:nvPr>
        </p:nvSpPr>
        <p:spPr>
          <a:xfrm>
            <a:off x="1007861" y="2599"/>
            <a:ext cx="7796540" cy="3997828"/>
          </a:xfrm>
        </p:spPr>
        <p:txBody>
          <a:bodyPr/>
          <a:lstStyle/>
          <a:p>
            <a:r>
              <a:rPr lang="en-US" dirty="0"/>
              <a:t>We can see that most of our patients have recorded a history of heart disease in their family.</a:t>
            </a:r>
          </a:p>
        </p:txBody>
      </p:sp>
      <p:pic>
        <p:nvPicPr>
          <p:cNvPr id="4" name="Picture 3" descr="A blue and orange rectangles with white text&#10;&#10;AI-generated content may be incorrect.">
            <a:extLst>
              <a:ext uri="{FF2B5EF4-FFF2-40B4-BE49-F238E27FC236}">
                <a16:creationId xmlns:a16="http://schemas.microsoft.com/office/drawing/2014/main" id="{EAEECFB5-08F3-D79D-F9A2-6F6A24BBD9C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76015" y="2763243"/>
            <a:ext cx="6241420" cy="3713786"/>
          </a:xfrm>
          <a:prstGeom prst="rect">
            <a:avLst/>
          </a:prstGeom>
        </p:spPr>
      </p:pic>
      <p:pic>
        <p:nvPicPr>
          <p:cNvPr id="7" name="Audio 6">
            <a:extLst>
              <a:ext uri="{FF2B5EF4-FFF2-40B4-BE49-F238E27FC236}">
                <a16:creationId xmlns:a16="http://schemas.microsoft.com/office/drawing/2014/main" id="{9EF9AB4F-8802-0E35-FB4E-4FE20786940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088429773"/>
      </p:ext>
    </p:extLst>
  </p:cSld>
  <p:clrMapOvr>
    <a:masterClrMapping/>
  </p:clrMapOvr>
  <mc:AlternateContent xmlns:mc="http://schemas.openxmlformats.org/markup-compatibility/2006">
    <mc:Choice xmlns:p14="http://schemas.microsoft.com/office/powerpoint/2010/main" Requires="p14">
      <p:transition spd="slow" p14:dur="2000" advTm="11580"/>
    </mc:Choice>
    <mc:Fallback>
      <p:transition spd="slow" advTm="11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98782-7FDE-19BA-C55D-8BD33AAFA4FC}"/>
              </a:ext>
            </a:extLst>
          </p:cNvPr>
          <p:cNvSpPr>
            <a:spLocks noGrp="1"/>
          </p:cNvSpPr>
          <p:nvPr>
            <p:ph type="title"/>
          </p:nvPr>
        </p:nvSpPr>
        <p:spPr>
          <a:xfrm>
            <a:off x="2611808" y="269441"/>
            <a:ext cx="7958331" cy="1077229"/>
          </a:xfrm>
        </p:spPr>
        <p:txBody>
          <a:bodyPr/>
          <a:lstStyle/>
          <a:p>
            <a:r>
              <a:rPr lang="en-US" dirty="0"/>
              <a:t>Logistic Regression Model</a:t>
            </a:r>
          </a:p>
        </p:txBody>
      </p:sp>
      <p:sp>
        <p:nvSpPr>
          <p:cNvPr id="3" name="Content Placeholder 2">
            <a:extLst>
              <a:ext uri="{FF2B5EF4-FFF2-40B4-BE49-F238E27FC236}">
                <a16:creationId xmlns:a16="http://schemas.microsoft.com/office/drawing/2014/main" id="{7B9F61A4-904A-F8F0-B727-CE66BDD5C36D}"/>
              </a:ext>
            </a:extLst>
          </p:cNvPr>
          <p:cNvSpPr>
            <a:spLocks noGrp="1"/>
          </p:cNvSpPr>
          <p:nvPr>
            <p:ph idx="1"/>
          </p:nvPr>
        </p:nvSpPr>
        <p:spPr>
          <a:xfrm>
            <a:off x="944799" y="475565"/>
            <a:ext cx="7796540" cy="3997828"/>
          </a:xfrm>
        </p:spPr>
        <p:txBody>
          <a:bodyPr/>
          <a:lstStyle/>
          <a:p>
            <a:r>
              <a:rPr lang="en-US" dirty="0"/>
              <a:t>Looking at a logistic regression model, dropping patient ID and splitting the data into test and train sets, we get a model accuracy rating of 0.9755, showing us that with the metrics in this dataset we can confidently predict if an individual is believed to have heart disease based on the metrics provided.</a:t>
            </a:r>
          </a:p>
          <a:p>
            <a:endParaRPr lang="en-US" dirty="0"/>
          </a:p>
        </p:txBody>
      </p:sp>
      <p:pic>
        <p:nvPicPr>
          <p:cNvPr id="4" name="Picture 3" descr="A screenshot of a computer&#10;&#10;AI-generated content may be incorrect.">
            <a:extLst>
              <a:ext uri="{FF2B5EF4-FFF2-40B4-BE49-F238E27FC236}">
                <a16:creationId xmlns:a16="http://schemas.microsoft.com/office/drawing/2014/main" id="{0006B93A-1052-C560-6E5B-C25577D350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63317" y="3868305"/>
            <a:ext cx="6406822" cy="2514130"/>
          </a:xfrm>
          <a:prstGeom prst="rect">
            <a:avLst/>
          </a:prstGeom>
        </p:spPr>
      </p:pic>
      <p:pic>
        <p:nvPicPr>
          <p:cNvPr id="7" name="Audio 6">
            <a:extLst>
              <a:ext uri="{FF2B5EF4-FFF2-40B4-BE49-F238E27FC236}">
                <a16:creationId xmlns:a16="http://schemas.microsoft.com/office/drawing/2014/main" id="{D82C2662-CF89-5543-5DDC-A759C5C4E58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917446373"/>
      </p:ext>
    </p:extLst>
  </p:cSld>
  <p:clrMapOvr>
    <a:masterClrMapping/>
  </p:clrMapOvr>
  <mc:AlternateContent xmlns:mc="http://schemas.openxmlformats.org/markup-compatibility/2006">
    <mc:Choice xmlns:p14="http://schemas.microsoft.com/office/powerpoint/2010/main" Requires="p14">
      <p:transition spd="slow" p14:dur="2000" advTm="22560"/>
    </mc:Choice>
    <mc:Fallback>
      <p:transition spd="slow" advTm="225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FC142-FD15-E5CB-1B6A-3E98EC67D064}"/>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40E6BF06-11B3-FFD2-E23B-8353A90E8F89}"/>
              </a:ext>
            </a:extLst>
          </p:cNvPr>
          <p:cNvSpPr>
            <a:spLocks noGrp="1"/>
          </p:cNvSpPr>
          <p:nvPr>
            <p:ph idx="1"/>
          </p:nvPr>
        </p:nvSpPr>
        <p:spPr/>
        <p:txBody>
          <a:bodyPr/>
          <a:lstStyle/>
          <a:p>
            <a:r>
              <a:rPr lang="en-US" dirty="0"/>
              <a:t>We can see from the metrics in this dataset that heart health and risk of heart disease have to do with many factors. Us as individuals must consider our stress levels, amount of sleep, and lifestyle choices when thinking of our heart health. We can see that individuals with a higher BMI show a greater risk for heart disease and issues with heart health. One of the main factors of heart health is a family history of heart disease, those patients with history of heart disease have a higher risk of having heart disease themselves versus patients who do not have a history of heart disease.</a:t>
            </a:r>
          </a:p>
          <a:p>
            <a:endParaRPr lang="en-US" dirty="0"/>
          </a:p>
        </p:txBody>
      </p:sp>
      <p:pic>
        <p:nvPicPr>
          <p:cNvPr id="10" name="Audio 9">
            <a:extLst>
              <a:ext uri="{FF2B5EF4-FFF2-40B4-BE49-F238E27FC236}">
                <a16:creationId xmlns:a16="http://schemas.microsoft.com/office/drawing/2014/main" id="{36544F4C-9941-EEB2-F278-DE7291696B7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794422511"/>
      </p:ext>
    </p:extLst>
  </p:cSld>
  <p:clrMapOvr>
    <a:masterClrMapping/>
  </p:clrMapOvr>
  <mc:AlternateContent xmlns:mc="http://schemas.openxmlformats.org/markup-compatibility/2006">
    <mc:Choice xmlns:p14="http://schemas.microsoft.com/office/powerpoint/2010/main" Requires="p14">
      <p:transition spd="slow" p14:dur="2000" advTm="36840"/>
    </mc:Choice>
    <mc:Fallback>
      <p:transition spd="slow" advTm="36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3AE53-2CCC-D07C-965D-0483049C2DAC}"/>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a16="http://schemas.microsoft.com/office/drawing/2014/main" id="{14FC6033-464E-CF9A-14BA-486A9CA335BA}"/>
              </a:ext>
            </a:extLst>
          </p:cNvPr>
          <p:cNvSpPr>
            <a:spLocks noGrp="1"/>
          </p:cNvSpPr>
          <p:nvPr>
            <p:ph idx="1"/>
          </p:nvPr>
        </p:nvSpPr>
        <p:spPr/>
        <p:txBody>
          <a:bodyPr/>
          <a:lstStyle/>
          <a:p>
            <a:r>
              <a:rPr lang="en-US" dirty="0"/>
              <a:t>The issues that arise from this is the consideration of race, income, and geographical regions. Studies have shown that some races are at higher risk for heart health and heart disease due to the type of lifestyle they live. Income is also a huge factor, those with lower income or considered to fall into the poverty category do not have the same access to healthy ingredients to live that healthy lifestyle, the convenience of fast-food restaurants and processed foods add to the disparities in income levels.</a:t>
            </a:r>
          </a:p>
        </p:txBody>
      </p:sp>
      <p:pic>
        <p:nvPicPr>
          <p:cNvPr id="8" name="Audio 7">
            <a:extLst>
              <a:ext uri="{FF2B5EF4-FFF2-40B4-BE49-F238E27FC236}">
                <a16:creationId xmlns:a16="http://schemas.microsoft.com/office/drawing/2014/main" id="{031006F4-817C-67BD-3D77-AFC40D0482BC}"/>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838725696"/>
      </p:ext>
    </p:extLst>
  </p:cSld>
  <p:clrMapOvr>
    <a:masterClrMapping/>
  </p:clrMapOvr>
  <mc:AlternateContent xmlns:mc="http://schemas.openxmlformats.org/markup-compatibility/2006">
    <mc:Choice xmlns:p14="http://schemas.microsoft.com/office/powerpoint/2010/main" Requires="p14">
      <p:transition spd="slow" p14:dur="2000" advTm="38100"/>
    </mc:Choice>
    <mc:Fallback>
      <p:transition spd="slow" advTm="38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45459-7570-8938-CD92-211370391B57}"/>
              </a:ext>
            </a:extLst>
          </p:cNvPr>
          <p:cNvSpPr>
            <a:spLocks noGrp="1"/>
          </p:cNvSpPr>
          <p:nvPr>
            <p:ph type="title"/>
          </p:nvPr>
        </p:nvSpPr>
        <p:spPr/>
        <p:txBody>
          <a:bodyPr/>
          <a:lstStyle/>
          <a:p>
            <a:r>
              <a:rPr lang="en-US" dirty="0"/>
              <a:t>Ethical Considerations</a:t>
            </a:r>
          </a:p>
        </p:txBody>
      </p:sp>
      <p:sp>
        <p:nvSpPr>
          <p:cNvPr id="3" name="Content Placeholder 2">
            <a:extLst>
              <a:ext uri="{FF2B5EF4-FFF2-40B4-BE49-F238E27FC236}">
                <a16:creationId xmlns:a16="http://schemas.microsoft.com/office/drawing/2014/main" id="{B6B7A06A-D052-F429-A457-EF82FC9ABDCD}"/>
              </a:ext>
            </a:extLst>
          </p:cNvPr>
          <p:cNvSpPr>
            <a:spLocks noGrp="1"/>
          </p:cNvSpPr>
          <p:nvPr>
            <p:ph idx="1"/>
          </p:nvPr>
        </p:nvSpPr>
        <p:spPr/>
        <p:txBody>
          <a:bodyPr/>
          <a:lstStyle/>
          <a:p>
            <a:r>
              <a:rPr lang="en-US" dirty="0"/>
              <a:t>The one major ethical consideration with this dataset is the use of Patient ID as one of the metrics, this metric can be used to trace the information back to a specific individual. To combat this, I have removed this metric and only focus on information that cannot be traced back to one specific individual.</a:t>
            </a:r>
          </a:p>
          <a:p>
            <a:endParaRPr lang="en-US" dirty="0"/>
          </a:p>
        </p:txBody>
      </p:sp>
      <p:pic>
        <p:nvPicPr>
          <p:cNvPr id="6" name="Audio 5">
            <a:extLst>
              <a:ext uri="{FF2B5EF4-FFF2-40B4-BE49-F238E27FC236}">
                <a16:creationId xmlns:a16="http://schemas.microsoft.com/office/drawing/2014/main" id="{48D90BBA-12A9-4876-7269-00B6994E6CD4}"/>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394861780"/>
      </p:ext>
    </p:extLst>
  </p:cSld>
  <p:clrMapOvr>
    <a:masterClrMapping/>
  </p:clrMapOvr>
  <mc:AlternateContent xmlns:mc="http://schemas.openxmlformats.org/markup-compatibility/2006">
    <mc:Choice xmlns:p14="http://schemas.microsoft.com/office/powerpoint/2010/main" Requires="p14">
      <p:transition spd="slow" p14:dur="2000" advTm="21840"/>
    </mc:Choice>
    <mc:Fallback>
      <p:transition spd="slow" advTm="21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79543-03BE-9E0B-C255-FBF90DA98B5B}"/>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53BE3DB6-010E-12C9-8C3F-4C288954FE2E}"/>
              </a:ext>
            </a:extLst>
          </p:cNvPr>
          <p:cNvSpPr>
            <a:spLocks noGrp="1"/>
          </p:cNvSpPr>
          <p:nvPr>
            <p:ph idx="1"/>
          </p:nvPr>
        </p:nvSpPr>
        <p:spPr/>
        <p:txBody>
          <a:bodyPr/>
          <a:lstStyle/>
          <a:p>
            <a:r>
              <a:rPr lang="en-US" dirty="0"/>
              <a:t>For patients to continue to improve their heart health, I recommend a complete lifestyle change for those at risk and those who have been diagnosed with heart disease. This lifestyle change will include changes to their exercise routine, sleep routine, and most importantly their eating patterns. With these lifestyle changes patients can improve their health drastically and live a long and healthy life.</a:t>
            </a:r>
          </a:p>
        </p:txBody>
      </p:sp>
      <p:pic>
        <p:nvPicPr>
          <p:cNvPr id="7" name="Audio 6">
            <a:extLst>
              <a:ext uri="{FF2B5EF4-FFF2-40B4-BE49-F238E27FC236}">
                <a16:creationId xmlns:a16="http://schemas.microsoft.com/office/drawing/2014/main" id="{F74D6174-A5CA-F381-C861-531306591FFD}"/>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687364147"/>
      </p:ext>
    </p:extLst>
  </p:cSld>
  <p:clrMapOvr>
    <a:masterClrMapping/>
  </p:clrMapOvr>
  <mc:AlternateContent xmlns:mc="http://schemas.openxmlformats.org/markup-compatibility/2006">
    <mc:Choice xmlns:p14="http://schemas.microsoft.com/office/powerpoint/2010/main" Requires="p14">
      <p:transition spd="slow" p14:dur="2000" advTm="30640"/>
    </mc:Choice>
    <mc:Fallback>
      <p:transition spd="slow" advTm="30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ED655-3B7A-166D-DF54-F848D6D017DE}"/>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6005A585-59F9-643F-ADA8-F220292795B5}"/>
              </a:ext>
            </a:extLst>
          </p:cNvPr>
          <p:cNvSpPr>
            <a:spLocks noGrp="1"/>
          </p:cNvSpPr>
          <p:nvPr>
            <p:ph idx="1"/>
          </p:nvPr>
        </p:nvSpPr>
        <p:spPr/>
        <p:txBody>
          <a:bodyPr>
            <a:normAutofit fontScale="70000" lnSpcReduction="20000"/>
          </a:bodyPr>
          <a:lstStyle/>
          <a:p>
            <a:r>
              <a:rPr lang="en-US" i="1" dirty="0"/>
              <a:t>American Heart Association: To be a relentless force for a world of longer, healthier lives</a:t>
            </a:r>
            <a:r>
              <a:rPr lang="en-US" dirty="0"/>
              <a:t>. </a:t>
            </a:r>
            <a:r>
              <a:rPr lang="en-US" dirty="0" err="1"/>
              <a:t>www.heart.org</a:t>
            </a:r>
            <a:r>
              <a:rPr lang="en-US" dirty="0"/>
              <a:t>. (n.d.). https://</a:t>
            </a:r>
            <a:r>
              <a:rPr lang="en-US" dirty="0" err="1"/>
              <a:t>www.heart.org</a:t>
            </a:r>
            <a:r>
              <a:rPr lang="en-US" dirty="0"/>
              <a:t>/ </a:t>
            </a:r>
          </a:p>
          <a:p>
            <a:r>
              <a:rPr lang="en-US" dirty="0"/>
              <a:t>Centers for Disease Control and Prevention. (2025, February 27). </a:t>
            </a:r>
            <a:r>
              <a:rPr lang="en-US" i="1" dirty="0"/>
              <a:t>Homepage - Health, United States</a:t>
            </a:r>
            <a:r>
              <a:rPr lang="en-US" dirty="0"/>
              <a:t>. Centers for Disease Control and Prevention. https://</a:t>
            </a:r>
            <a:r>
              <a:rPr lang="en-US" dirty="0" err="1"/>
              <a:t>www.cdc.gov</a:t>
            </a:r>
            <a:r>
              <a:rPr lang="en-US" dirty="0"/>
              <a:t>/</a:t>
            </a:r>
            <a:r>
              <a:rPr lang="en-US" dirty="0" err="1"/>
              <a:t>nchs</a:t>
            </a:r>
            <a:r>
              <a:rPr lang="en-US" dirty="0"/>
              <a:t>/</a:t>
            </a:r>
            <a:r>
              <a:rPr lang="en-US" dirty="0" err="1"/>
              <a:t>hus</a:t>
            </a:r>
            <a:r>
              <a:rPr lang="en-US" dirty="0"/>
              <a:t>/ </a:t>
            </a:r>
          </a:p>
          <a:p>
            <a:r>
              <a:rPr lang="en-US" dirty="0"/>
              <a:t>Centers for Disease Control and Prevention. (n.d.). </a:t>
            </a:r>
            <a:r>
              <a:rPr lang="en-US" i="1" dirty="0"/>
              <a:t>Heart disease facts</a:t>
            </a:r>
            <a:r>
              <a:rPr lang="en-US" dirty="0"/>
              <a:t>. Centers for Disease Control and Prevention. https://</a:t>
            </a:r>
            <a:r>
              <a:rPr lang="en-US" dirty="0" err="1"/>
              <a:t>www.cdc.gov</a:t>
            </a:r>
            <a:r>
              <a:rPr lang="en-US" dirty="0"/>
              <a:t>/heart-disease/data-research/facts-stats/?</a:t>
            </a:r>
            <a:r>
              <a:rPr lang="en-US" dirty="0" err="1"/>
              <a:t>CDC_AAref_Val</a:t>
            </a:r>
            <a:r>
              <a:rPr lang="en-US" dirty="0"/>
              <a:t>=https%3A%2F%2Fwww.cdc.gov%2Fheartdisease%2Ffacts.htm </a:t>
            </a:r>
          </a:p>
          <a:p>
            <a:r>
              <a:rPr lang="en-US" i="1" dirty="0"/>
              <a:t>Dietary guidelines for Americans</a:t>
            </a:r>
            <a:r>
              <a:rPr lang="en-US" dirty="0"/>
              <a:t>. Dietary Guidelines for Americans. (n.d.). https://</a:t>
            </a:r>
            <a:r>
              <a:rPr lang="en-US" dirty="0" err="1"/>
              <a:t>www.dietaryguidelines.gov</a:t>
            </a:r>
            <a:r>
              <a:rPr lang="en-US" dirty="0"/>
              <a:t>/ </a:t>
            </a:r>
          </a:p>
          <a:p>
            <a:r>
              <a:rPr lang="en-US" dirty="0"/>
              <a:t>Mensah, G. A., Wei, G. S., </a:t>
            </a:r>
            <a:r>
              <a:rPr lang="en-US" dirty="0" err="1"/>
              <a:t>Sorlie</a:t>
            </a:r>
            <a:r>
              <a:rPr lang="en-US" dirty="0"/>
              <a:t>, P. D., Fine, L. J., Rosenberg, Y., Kaufmann, P. G., </a:t>
            </a:r>
            <a:r>
              <a:rPr lang="en-US" dirty="0" err="1"/>
              <a:t>Mussolino</a:t>
            </a:r>
            <a:r>
              <a:rPr lang="en-US" dirty="0"/>
              <a:t>, M. E., Hsu, L. L., </a:t>
            </a:r>
            <a:r>
              <a:rPr lang="en-US" dirty="0" err="1"/>
              <a:t>Addou</a:t>
            </a:r>
            <a:r>
              <a:rPr lang="en-US" dirty="0"/>
              <a:t>, E., Engelgau, M. M., &amp; Gordon, D. (2017). Decline in cardiovascular mortality. </a:t>
            </a:r>
            <a:r>
              <a:rPr lang="en-US" i="1" dirty="0"/>
              <a:t>Circulation Research</a:t>
            </a:r>
            <a:r>
              <a:rPr lang="en-US" dirty="0"/>
              <a:t>, </a:t>
            </a:r>
            <a:r>
              <a:rPr lang="en-US" i="1" dirty="0"/>
              <a:t>120</a:t>
            </a:r>
            <a:r>
              <a:rPr lang="en-US" dirty="0"/>
              <a:t>(2), 366–380. https://</a:t>
            </a:r>
            <a:r>
              <a:rPr lang="en-US" dirty="0" err="1"/>
              <a:t>doi.org</a:t>
            </a:r>
            <a:r>
              <a:rPr lang="en-US" dirty="0"/>
              <a:t>/10.1161/circresaha.116.309115 </a:t>
            </a:r>
          </a:p>
          <a:p>
            <a:endParaRPr lang="en-US" dirty="0"/>
          </a:p>
        </p:txBody>
      </p:sp>
      <p:pic>
        <p:nvPicPr>
          <p:cNvPr id="6" name="Audio 5">
            <a:extLst>
              <a:ext uri="{FF2B5EF4-FFF2-40B4-BE49-F238E27FC236}">
                <a16:creationId xmlns:a16="http://schemas.microsoft.com/office/drawing/2014/main" id="{70FC7313-DB53-233C-EB71-B758EA6911B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635081732"/>
      </p:ext>
    </p:extLst>
  </p:cSld>
  <p:clrMapOvr>
    <a:masterClrMapping/>
  </p:clrMapOvr>
  <mc:AlternateContent xmlns:mc="http://schemas.openxmlformats.org/markup-compatibility/2006">
    <mc:Choice xmlns:p14="http://schemas.microsoft.com/office/powerpoint/2010/main" Requires="p14">
      <p:transition spd="slow" p14:dur="2000" advTm="4300"/>
    </mc:Choice>
    <mc:Fallback>
      <p:transition spd="slow" advTm="4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2180</TotalTime>
  <Words>1273</Words>
  <Application>Microsoft Macintosh PowerPoint</Application>
  <PresentationFormat>Widescreen</PresentationFormat>
  <Paragraphs>48</Paragraphs>
  <Slides>14</Slides>
  <Notes>3</Notes>
  <HiddenSlides>0</HiddenSlides>
  <MMClips>14</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MS Shell Dlg 2</vt:lpstr>
      <vt:lpstr>Wingdings</vt:lpstr>
      <vt:lpstr>Wingdings 3</vt:lpstr>
      <vt:lpstr>Madison</vt:lpstr>
      <vt:lpstr>Hector Pena DSC 680 Bellevue University</vt:lpstr>
      <vt:lpstr>Business Problem</vt:lpstr>
      <vt:lpstr>Background</vt:lpstr>
      <vt:lpstr>Data</vt:lpstr>
      <vt:lpstr>Methods</vt:lpstr>
      <vt:lpstr>Analysis</vt:lpstr>
      <vt:lpstr>BMI Distribution</vt:lpstr>
      <vt:lpstr>Family History of Heart Disease</vt:lpstr>
      <vt:lpstr>Logistic Regression Model</vt:lpstr>
      <vt:lpstr>Conclusion</vt:lpstr>
      <vt:lpstr>Challenges</vt:lpstr>
      <vt:lpstr>Ethical Considerations</vt:lpstr>
      <vt:lpstr>Recommendations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Hector Pena</dc:creator>
  <cp:lastModifiedBy>Hector Pena</cp:lastModifiedBy>
  <cp:revision>8</cp:revision>
  <dcterms:created xsi:type="dcterms:W3CDTF">2026-03-07T14:22:54Z</dcterms:created>
  <dcterms:modified xsi:type="dcterms:W3CDTF">2026-03-09T02:43:04Z</dcterms:modified>
</cp:coreProperties>
</file>